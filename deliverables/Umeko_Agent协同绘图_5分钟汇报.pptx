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fa31284f44a12" /><Relationship Type="http://schemas.openxmlformats.org/officeDocument/2006/relationships/extended-properties" Target="/docProps/app.xml" Id="R8707a1b517384099" /><Relationship Type="http://schemas.openxmlformats.org/officeDocument/2006/relationships/officeDocument" Target="/ppt/presentation.xml" Id="R6ede37858fce4d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c9d1e1cce43cd"/>
  </p:sldMasterIdLst>
  <p:notesMasterIdLst>
    <p:notesMasterId xmlns:r="http://schemas.openxmlformats.org/officeDocument/2006/relationships" r:id="R0a7878e2de50405d"/>
  </p:notesMasterIdLst>
  <p:sldIdLst>
    <p:sldId xmlns:r="http://schemas.openxmlformats.org/officeDocument/2006/relationships" id="256" r:id="R70578526c626401d"/>
    <p:sldId xmlns:r="http://schemas.openxmlformats.org/officeDocument/2006/relationships" id="257" r:id="R66e128eb85044650"/>
    <p:sldId xmlns:r="http://schemas.openxmlformats.org/officeDocument/2006/relationships" id="258" r:id="Rdefddc810b6343c6"/>
    <p:sldId xmlns:r="http://schemas.openxmlformats.org/officeDocument/2006/relationships" id="259" r:id="R30af2db194a14215"/>
    <p:sldId xmlns:r="http://schemas.openxmlformats.org/officeDocument/2006/relationships" id="260" r:id="R410f5edb9bf6413e"/>
    <p:sldId xmlns:r="http://schemas.openxmlformats.org/officeDocument/2006/relationships" id="261" r:id="Re29625aff63a4827"/>
    <p:sldId xmlns:r="http://schemas.openxmlformats.org/officeDocument/2006/relationships" id="262" r:id="R3d08d62eed324fc1"/>
    <p:sldId xmlns:r="http://schemas.openxmlformats.org/officeDocument/2006/relationships" id="263" r:id="R08558a0396fd4107"/>
    <p:sldId xmlns:r="http://schemas.openxmlformats.org/officeDocument/2006/relationships" id="264" r:id="R3c7bde0825ae4b61"/>
    <p:sldId xmlns:r="http://schemas.openxmlformats.org/officeDocument/2006/relationships" id="265" r:id="R165e6ca352bf4889"/>
    <p:sldId xmlns:r="http://schemas.openxmlformats.org/officeDocument/2006/relationships" id="266" r:id="Rf5ebedde9bfd4624"/>
    <p:sldId xmlns:r="http://schemas.openxmlformats.org/officeDocument/2006/relationships" id="267" r:id="R29d2bbfea3d349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e14b25c5354ed8" /><Relationship Type="http://schemas.openxmlformats.org/officeDocument/2006/relationships/slideMaster" Target="/ppt/slideMasters/slideMaster1.xml" Id="Rb32c9d1e1cce43cd" /><Relationship Type="http://schemas.openxmlformats.org/officeDocument/2006/relationships/notesMaster" Target="/ppt/notesMasters/notesMaster1.xml" Id="R0a7878e2de50405d" /><Relationship Type="http://schemas.openxmlformats.org/officeDocument/2006/relationships/presProps" Target="/ppt/presProps.xml" Id="Reba5826c04f94abc" /><Relationship Type="http://schemas.openxmlformats.org/officeDocument/2006/relationships/tableStyles" Target="/ppt/tableStyles.xml" Id="R46717a03c783432d" /><Relationship Type="http://schemas.openxmlformats.org/officeDocument/2006/relationships/slide" Target="/ppt/slides/slide1.xml" Id="R70578526c626401d" /><Relationship Type="http://schemas.openxmlformats.org/officeDocument/2006/relationships/slide" Target="/ppt/slides/slide2.xml" Id="R66e128eb85044650" /><Relationship Type="http://schemas.openxmlformats.org/officeDocument/2006/relationships/slide" Target="/ppt/slides/slide3.xml" Id="Rdefddc810b6343c6" /><Relationship Type="http://schemas.openxmlformats.org/officeDocument/2006/relationships/slide" Target="/ppt/slides/slide4.xml" Id="R30af2db194a14215" /><Relationship Type="http://schemas.openxmlformats.org/officeDocument/2006/relationships/slide" Target="/ppt/slides/slide5.xml" Id="R410f5edb9bf6413e" /><Relationship Type="http://schemas.openxmlformats.org/officeDocument/2006/relationships/slide" Target="/ppt/slides/slide6.xml" Id="Re29625aff63a4827" /><Relationship Type="http://schemas.openxmlformats.org/officeDocument/2006/relationships/slide" Target="/ppt/slides/slide7.xml" Id="R3d08d62eed324fc1" /><Relationship Type="http://schemas.openxmlformats.org/officeDocument/2006/relationships/slide" Target="/ppt/slides/slide8.xml" Id="R08558a0396fd4107" /><Relationship Type="http://schemas.openxmlformats.org/officeDocument/2006/relationships/slide" Target="/ppt/slides/slide9.xml" Id="R3c7bde0825ae4b61" /><Relationship Type="http://schemas.openxmlformats.org/officeDocument/2006/relationships/slide" Target="/ppt/slides/slide10.xml" Id="R165e6ca352bf4889" /><Relationship Type="http://schemas.openxmlformats.org/officeDocument/2006/relationships/slide" Target="/ppt/slides/slide11.xml" Id="Rf5ebedde9bfd4624" /><Relationship Type="http://schemas.openxmlformats.org/officeDocument/2006/relationships/slide" Target="/ppt/slides/slide12.xml" Id="R29d2bbfea3d349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bfebed06a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14ec7024ec4e28" /><Relationship Type="http://schemas.openxmlformats.org/officeDocument/2006/relationships/notesMaster" Target="/ppt/notesMasters/notesMaster1.xml" Id="R5a2aafe1b9fb46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e90d19a9c44390" /><Relationship Type="http://schemas.openxmlformats.org/officeDocument/2006/relationships/notesMaster" Target="/ppt/notesMasters/notesMaster1.xml" Id="R4cea69eff3744e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bec507c8854480" /><Relationship Type="http://schemas.openxmlformats.org/officeDocument/2006/relationships/notesMaster" Target="/ppt/notesMasters/notesMaster1.xml" Id="R064f04ce45cc45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b6960cf7634f8e" /><Relationship Type="http://schemas.openxmlformats.org/officeDocument/2006/relationships/notesMaster" Target="/ppt/notesMasters/notesMaster1.xml" Id="Re7204ba9ceb942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f3f3e1b85b4b9e" /><Relationship Type="http://schemas.openxmlformats.org/officeDocument/2006/relationships/notesMaster" Target="/ppt/notesMasters/notesMaster1.xml" Id="Rafc6c2e3f6a644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baa094d3424a7e" /><Relationship Type="http://schemas.openxmlformats.org/officeDocument/2006/relationships/notesMaster" Target="/ppt/notesMasters/notesMaster1.xml" Id="Rbc28d27c63b64f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85c1ac70c6469c" /><Relationship Type="http://schemas.openxmlformats.org/officeDocument/2006/relationships/notesMaster" Target="/ppt/notesMasters/notesMaster1.xml" Id="R9049574a805148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209f80835348e1" /><Relationship Type="http://schemas.openxmlformats.org/officeDocument/2006/relationships/notesMaster" Target="/ppt/notesMasters/notesMaster1.xml" Id="R262c25f7a119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2a4eb644f843da" /><Relationship Type="http://schemas.openxmlformats.org/officeDocument/2006/relationships/notesMaster" Target="/ppt/notesMasters/notesMaster1.xml" Id="R0275e1f8962b48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4d4baa49de47ec" /><Relationship Type="http://schemas.openxmlformats.org/officeDocument/2006/relationships/notesMaster" Target="/ppt/notesMasters/notesMaster1.xml" Id="Rc8c2434dc11e4b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345e1ca97e4b78" /><Relationship Type="http://schemas.openxmlformats.org/officeDocument/2006/relationships/notesMaster" Target="/ppt/notesMasters/notesMaster1.xml" Id="R591f36b3d82b47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808c4aada04e7a" /><Relationship Type="http://schemas.openxmlformats.org/officeDocument/2006/relationships/notesMaster" Target="/ppt/notesMasters/notesMaster1.xml" Id="R16a3b81d1df84c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这个项目面向业务同事与 Agent 协同绘图，提供可内部部署的交互画布。下面介绍它的价值、架构，以及从个人测试走向百人使用的建设路径。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用户提供：项目自研，当前在个人申请的单节点 ECS 测试，目标 10～100 人。</a:t>
            </a:r>
          </a:p>
          <a:p xmlns:a="http://schemas.openxmlformats.org/drawingml/2006/main">
            <a:r>
              <a:t>代码快照：b2b8c48，2026-10-15。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项目有两类入口。第一类是平台里的伴生画布，例如面向 Nexent 等 Agent 系统，由 Widgets 承载界面，MCP 承载绘图操作。第二类是个人入口，本地编码 Agent、内网 CodeAgent、CodeArts 等可以和浏览器画布交互。业务同事提出需求，Agent 生成图形，人可以直接拖拽修改，Agent 再读取最新 XML 继续作业。这样保留的是可以继续编辑的源图。图形服务支持内部部署，模型和接入平台的数据流也需要纳入管理。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用户补充：面向多种 Agent 系统的 Widgets 伴生能力，以及个人编码 Agent 交互绘图。</a:t>
            </a:r>
          </a:p>
          <a:p xmlns:a="http://schemas.openxmlformats.org/drawingml/2006/main">
            <a:r>
              <a:t>src/server.js:404-639 MCP 工具与多会话；666-690 widgets.json。</a:t>
            </a:r>
          </a:p>
          <a:p xmlns:a="http://schemas.openxmlformats.org/drawingml/2006/main">
            <a:r>
              <a:t>public/node.html: 与嵌入编辑器、服务器的双向 XML 通信。</a:t>
            </a:r>
          </a:p>
          <a:p xmlns:a="http://schemas.openxmlformats.org/drawingml/2006/main">
            <a:r>
              <a:t>平台名称表示目标接入场景，未取得 Nexent Widgets、CodeAgent、CodeArts 的端到端验收记录。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架构上，Agent 通过 MCP 调用图形工具，业务同事通过平台 Widget 或独立页面操作 draw.io。Node.js 主服务负责 XML 校验、节点管理和实时同步，WebSocket 连不上时可以降级到 SSE。下面复用 draw.io 编辑器和官方 PNG 导出服务，并补充自研 SVG 导出器，统一字体与导出链路。这个服务本身不运行大模型，模型由接入的 Agent 系统提供。目前 XML 热状态、页面连接和 MCP 会话都在单进程里，这也是后续扩容时需要处理的边界。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docker-compose.yml：server、drawio、export-server、svg-exporter 四服务及内网地址。</a:t>
            </a:r>
          </a:p>
          <a:p xmlns:a="http://schemas.openxmlformats.org/drawingml/2006/main">
            <a:r>
              <a:t>src/server.js:184-301 REST 与实时通道；597-639 MCP 会话；666-715 Widgets 与编辑器代理。</a:t>
            </a:r>
          </a:p>
          <a:p xmlns:a="http://schemas.openxmlformats.org/drawingml/2006/main">
            <a:r>
              <a:t>src/nodes.js:15-20 节点 Map；215-248 页面连接。</a:t>
            </a:r>
          </a:p>
          <a:p xmlns:a="http://schemas.openxmlformats.org/drawingml/2006/main">
            <a:r>
              <a:t>部署形态还支持 all-in-one 与裸机 Linux。本页按推荐的 Compose 方案绘制。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 draw.io 的主要原因，是业务图经常需要精修位置、样式和分组。XML 把这些结构明确表达出来，模型可以读写文本，人也能直接操作画布。人工修改又能回到 Agent 的上下文，适合反复协作。Mermaid 的优势是语法简洁，适合文档中标准关系图。两者各有适用场景。这里关于模型配合的判断是工程选型依据，具体模型能生成多复杂的图，还需要结合校验和渲染反馈做验证。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draw.io 官方 XML 文档：https://www.drawio.com/docs/manual/advanced/diagram-source-edit/</a:t>
            </a:r>
          </a:p>
          <a:p xmlns:a="http://schemas.openxmlformats.org/drawingml/2006/main">
            <a:r>
              <a:t>Mermaid 官方流程图文档：https://mermaid.js.org/syntax/flowchart.html</a:t>
            </a:r>
          </a:p>
          <a:p xmlns:a="http://schemas.openxmlformats.org/drawingml/2006/main">
            <a:r>
              <a:t>src/validate.js: 语法与部分 mxGraph 结构检查。</a:t>
            </a:r>
          </a:p>
          <a:p xmlns:a="http://schemas.openxmlformats.org/drawingml/2006/main">
            <a:r>
              <a:t>未做主流模型的统一成功率、编辑精度或 token 成本对比，不宣称已有量化结论。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容量要分开看在线编辑和渲染导出。普通画布编辑主要在浏览器完成，服务端重负载集中在无头浏览器导出。这里给出可复算的规划场景：每人十秒一次控制请求、五分钟一次导出，单次导出四秒。十人时每分钟两次导出，单槽占用约百分之十三。五十人占用百分之六十七。百人需要百分之一百三十三，单槽已经无法稳定消化。按百分之六十的利用率留余量，分别规划一、二、三个独立渲染槽位。目前 SVG 导出器串行，这些数字都是假设测算，实际能力要在当前 ECS 上压测后确认。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exporter/svg-export.js:44、145-154，单 Promise 队列串行导出。</a:t>
            </a:r>
          </a:p>
          <a:p xmlns:a="http://schemas.openxmlformats.org/drawingml/2006/main">
            <a:r>
              <a:t>src/render.js: 导出请求与端点回退。PNG 官方服务的内部并行能力未实测，本表采用统一独立渲染槽位模型。</a:t>
            </a:r>
          </a:p>
          <a:p xmlns:a="http://schemas.openxmlformats.org/drawingml/2006/main">
            <a:r>
              <a:t>假设 N 人，每人每 300 秒一次导出，T=4 秒。导出到达率 λ=N/300 次/秒。</a:t>
            </a:r>
          </a:p>
          <a:p xmlns:a="http://schemas.openxmlformats.org/drawingml/2006/main">
            <a:r>
              <a:t>单槽占用 ρ=λ×T=N×4/300。规划槽位 k=ceil(λ×T/0.6)，10/50/100 人分别为 1/2/3。</a:t>
            </a:r>
          </a:p>
          <a:p xmlns:a="http://schemas.openxmlformats.org/drawingml/2006/main">
            <a:r>
              <a:t>控制请求=N/10 次/秒，不包含静态资源首次加载、SSE 心跳、MCP 协议开销和重试。</a:t>
            </a:r>
          </a:p>
          <a:p xmlns:a="http://schemas.openxmlformats.org/drawingml/2006/main">
            <a:r>
              <a:t>槽位为独立执行能力，可通过多个受限 worker / exporter 实例实现，不能直接等同于现有单容器的并行度。</a:t>
            </a:r>
          </a:p>
          <a:p xmlns:a="http://schemas.openxmlformats.org/drawingml/2006/main">
            <a:r>
              <a:t>本测算不覆盖同时发起的批量导出、复杂图、外部图片、字体冷启动和用户思考时间分布。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内部部署让编辑器和导出链路可以使用内部地址，为业务数据保密提供基础。扩大使用时，还要把 Agent、模型、外部图片、日志和导出文件都纳入同一数据边界。代码层面，当前知道 nodeId 就能操作画布，需要补统一身份和画布归属授权。热数据在内存，重启会丢失，所以保存成功前应当持久化，并增加版本和恢复演练。另一个重点是渲染限流、有界队列、超时和审计，防止少量突发导出影响整个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src/server.js:46 管理员默认口令；184-301 业务接口；597-639 MCP 端点；694 产物静态下载。</a:t>
            </a:r>
          </a:p>
          <a:p xmlns:a="http://schemas.openxmlformats.org/drawingml/2006/main">
            <a:r>
              <a:t>src/nodes.js:15-20 热状态 Map；66-67 解冻后删除冷文件；85-103 冻结落盘。</a:t>
            </a:r>
          </a:p>
          <a:p xmlns:a="http://schemas.openxmlformats.org/drawingml/2006/main">
            <a:r>
              <a:t>exporter/svg-export.js:33 Chromium 使用 --no-sandbox；44、145 串行无界队列。建议在受限 worker、非特权容器和网络策略中隔离。</a:t>
            </a:r>
          </a:p>
          <a:p xmlns:a="http://schemas.openxmlformats.org/drawingml/2006/main">
            <a:r>
              <a:t>MCP 安全规范：https://modelcontextprotocol.io/specification/2025-06-18/basic/transports</a:t>
            </a:r>
          </a:p>
          <a:p xmlns:a="http://schemas.openxmlformats.org/drawingml/2006/main">
            <a:r>
              <a:t>MCP 安全实践：https://modelcontextprotocol.io/docs/2025-11-25/tutorials/security/security_best_practices</a:t>
            </a:r>
          </a:p>
          <a:p xmlns:a="http://schemas.openxmlformats.org/drawingml/2006/main">
            <a:r>
              <a:t>draw.io 官方安全说明：https://github.com/jgraph/drawio/wiki/Security</a:t>
            </a:r>
          </a:p>
          <a:p xmlns:a="http://schemas.openxmlformats.org/drawingml/2006/main">
            <a:r>
              <a:t>本页为代码调研与建设建议，未进行渗透测试，也未获得实际 ECS 网关、网络策略和合规认证证据。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进可以按十人、五十人、百人分档验证。十人阶段沿用当前单节点，先补授权、保存和恢复。五十人阶段重点拆开业务与渲染资源，增加受限渲染槽位，观察排队和突发。百人阶段根据压测和可用性要求决定是否增加业务副本。增加副本前，要把 XML 权威状态放入共享数据库，处理跨实例通知，并为 MCP 会话和浏览器长连接建立路由与重连机制。单纯把现有服务复制多份，会出现各实例画布与会话不一致。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src/nodes.js:17 Map、215-248 单页面实时连接。</a:t>
            </a:r>
          </a:p>
          <a:p xmlns:a="http://schemas.openxmlformats.org/drawingml/2006/main">
            <a:r>
              <a:t>src/server.js:139 adminTokens Map；597-633 每端点局部 MCP 会话表。</a:t>
            </a:r>
          </a:p>
          <a:p xmlns:a="http://schemas.openxmlformats.org/drawingml/2006/main">
            <a:r>
              <a:t>参考演进设计，当前代码尚未实现数据库、共享队列、消息总线或跨实例会话路由。</a:t>
            </a:r>
          </a:p>
          <a:p xmlns:a="http://schemas.openxmlformats.org/drawingml/2006/main">
            <a:r>
              <a:t>不预设 100 人必须采用 Kubernetes。可继续使用 ECS 与容器编排，在容量和故障指标要求下逐步演进。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下一步选一个平台和一个个人 Agent 完成协作闭环，补好授权、保存和渲染治理，再在当前 ECS 上分档压测。最终目标是让业务同事与不同 Agent 安全地围绕同一份可编辑图形持续协作。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阶段性计划，尚未完成平台验收、容量压测或生产放量。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备查页，不计入主讲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目标平台与当前代码接口分开确认。Nexent 的公开文档证明具备远程 MCP 接入方式，不能由此推定 Widgets 伴生画布已经兼容。内网 CodeAgent、CodeArts 的具体部署版本与能力由平台联调确认。Widgets 工具白名单是平台声明，后端仍需自行执行授权。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Nexent 官方 MCP 接入指南：https://modelengine-group.github.io/nexent/en/integration/integration-in/mcp.html</a:t>
            </a:r>
          </a:p>
          <a:p xmlns:a="http://schemas.openxmlformats.org/drawingml/2006/main">
            <a:r>
              <a:t>src/server.js:59、666-690 widgets.json 与 tools_allow；README.md 平台集成端点。</a:t>
            </a:r>
          </a:p>
          <a:p xmlns:a="http://schemas.openxmlformats.org/drawingml/2006/main">
            <a:r>
              <a:t>未检查或修改用户的真实平台配置。未取得端到端联调记录。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备查页，不计入主讲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本页全部为演进设计。数据库保存 XML 权威状态并记录所有者与版本。消息总线用于将更新通知至持有浏览器连接的实例。MCP transport 对象仍由实例持有，不能仅用 Redis 存一个会话 ID 就实现任意实例接续，需要会话路由、实例失效后的重新初始化和重试规则。队列中的渲染任务应包含不可变版本引用，worker 出图后写共享存储，更新任务状态并向用户提供授权下载。图中的监控、共享数据库、队列、双副本当前均未实现。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设计推导依据：src/nodes.js 内存状态、单链接；src/server.js MCP 会话局部表；src/render.js 同步渲染调用。</a:t>
            </a:r>
          </a:p>
          <a:p xmlns:a="http://schemas.openxmlformats.org/drawingml/2006/main">
            <a:r>
              <a:t>业务端将 XML 与任务提交到共享数据库及队列。渲染 Worker 将产物上传共享存储，监控采集各组件指标。图仅展示主要职责与依赖。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备查页，不计入主讲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所有响应时间与成功率均为建议目标，需与业务方约定后执行。控制接口目标不含外部 Agent 模型推理时间。渲染端到端时延包含排队与执行，格式、图形元素数、字体和冷启动分别留样本。p95 与成功率需要给出样本量，不能只报告平均值。百人长稳建议至少 2 小时，资源监控重点观察无界积压、RSS 走势与会话清理。保存不丢失只适用于完成持久化提交并已返回成功的版本，当前内存方案尚未达到。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本页为项目建议测试方案，未执行多人压测。</a:t>
            </a:r>
          </a:p>
          <a:p xmlns:a="http://schemas.openxmlformats.org/drawingml/2006/main">
            <a:r>
              <a:t>当前 ECS 实际规格、镜像版本、平均图大小、导出耗时和峰值业务分布尚未提供。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备查页，不计入主讲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优先以代码而非 README 的简化描述为准。冷存储实际使用 JSON 文件。生命周期清理按最后访问时间计算，不能表述为冻结后完整保留 48 小时。读取节点可能触发解冻并删除冷文件，因此冷存储也不是热节点的备份。README 的用户态所有交互必须传 nodeId 存在例外：render_diagram 可仅传 XML。业务页 report/WS 输入、冷存储路径、会话过期和导出下载控制都需要统一治理。本轮只作调研与方案建议，未改动业务源码，也未执行容量压测或合规认证。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src/nodes.js:24-25、66-67、183-209。</a:t>
            </a:r>
          </a:p>
          <a:p xmlns:a="http://schemas.openxmlformats.org/drawingml/2006/main">
            <a:r>
              <a:t>src/server.js:268-273、523-586、638-639、694。</a:t>
            </a:r>
          </a:p>
          <a:p xmlns:a="http://schemas.openxmlformats.org/drawingml/2006/main">
            <a:r>
              <a:t>https://www.drawio.com/docs/manual/advanced/diagram-source-edit/</a:t>
            </a:r>
          </a:p>
          <a:p xmlns:a="http://schemas.openxmlformats.org/drawingml/2006/main">
            <a:r>
              <a:t>https://github.com/jgraph/drawio/wiki/Security</a:t>
            </a:r>
          </a:p>
          <a:p xmlns:a="http://schemas.openxmlformats.org/drawingml/2006/main">
            <a:r>
              <a:t>https://mermaid.js.org/syntax/flowchart.html</a:t>
            </a:r>
          </a:p>
          <a:p xmlns:a="http://schemas.openxmlformats.org/drawingml/2006/main">
            <a:r>
              <a:t>https://modelcontextprotocol.io/specification/2025-06-18/basic/transports</a:t>
            </a:r>
          </a:p>
          <a:p xmlns:a="http://schemas.openxmlformats.org/drawingml/2006/main">
            <a:r>
              <a:t>https://modelcontextprotocol.io/docs/2025-11-25/tutorials/security/security_best_practices</a:t>
            </a:r>
          </a:p>
          <a:p xmlns:a="http://schemas.openxmlformats.org/drawingml/2006/main">
            <a:r>
              <a:t>https://modelengine-group.github.io/nexent/en/integration/integration-in/mcp.html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a592a1b2e44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c49f9f21243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73bca490f41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a4a55bb154f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fd8c7698247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f21cebc3f43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BFCA38-6555-4A4C-9D03-5868859BF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095C71-EF01-41E8-B982-63284D1AF9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ACC7EC-F95B-470B-98DC-85E4A8D5E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31E065-4F9D-4795-A6FC-ACE21874E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D2EEEB-F6A4-444B-86DA-A0AAA94C65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C48CA4-E9F1-494A-9976-F0F55D4F6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831D58-D73E-4137-93EE-495894153C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159833-A23E-485A-957F-17A40EAAFD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9E8F69-1329-402B-9C92-D4BB3BC61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6D9827-AC18-4C7B-A170-A2403E1431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a972a3175c4bc1" /><Relationship Type="http://schemas.openxmlformats.org/officeDocument/2006/relationships/slideLayout" Target="/ppt/slideLayouts/slideLayout1.xml" Id="R6fb8bb13901242b6" /><Relationship Type="http://schemas.openxmlformats.org/officeDocument/2006/relationships/slideLayout" Target="/ppt/slideLayouts/slideLayout2.xml" Id="Re9d3cac0aa314858" /><Relationship Type="http://schemas.openxmlformats.org/officeDocument/2006/relationships/slideLayout" Target="/ppt/slideLayouts/slideLayout3.xml" Id="R89308fe572a744de" /><Relationship Type="http://schemas.openxmlformats.org/officeDocument/2006/relationships/slideLayout" Target="/ppt/slideLayouts/slideLayout4.xml" Id="R745f5995ac894bbf" /><Relationship Type="http://schemas.openxmlformats.org/officeDocument/2006/relationships/slideLayout" Target="/ppt/slideLayouts/slideLayout5.xml" Id="Rd99eda0737bd4c8f" /><Relationship Type="http://schemas.openxmlformats.org/officeDocument/2006/relationships/slideLayout" Target="/ppt/slideLayouts/slideLayout6.xml" Id="R3fafdb275f75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8bb13901242b6"/>
    <p:sldLayoutId xmlns:r="http://schemas.openxmlformats.org/officeDocument/2006/relationships" id="2147483650" r:id="Re9d3cac0aa314858"/>
    <p:sldLayoutId xmlns:r="http://schemas.openxmlformats.org/officeDocument/2006/relationships" id="2147483651" r:id="R89308fe572a744de"/>
    <p:sldLayoutId xmlns:r="http://schemas.openxmlformats.org/officeDocument/2006/relationships" id="2147483652" r:id="R745f5995ac894bbf"/>
    <p:sldLayoutId xmlns:r="http://schemas.openxmlformats.org/officeDocument/2006/relationships" id="2147483653" r:id="Rd99eda0737bd4c8f"/>
    <p:sldLayoutId xmlns:r="http://schemas.openxmlformats.org/officeDocument/2006/relationships" id="2147483654" r:id="R3fafdb275f75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a653740d348fc" /><Relationship Type="http://schemas.openxmlformats.org/officeDocument/2006/relationships/notesSlide" Target="/ppt/notesSlides/notesSlide1.xml" Id="R9a41c282a085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90658fbc24617" /><Relationship Type="http://schemas.openxmlformats.org/officeDocument/2006/relationships/notesSlide" Target="/ppt/notesSlides/notesSlide2.xml" Id="R5ff1e2cac5344a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4436874fc4c8b" /><Relationship Type="http://schemas.openxmlformats.org/officeDocument/2006/relationships/notesSlide" Target="/ppt/notesSlides/notesSlide3.xml" Id="R842346b7354b41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9b76710414de2" /><Relationship Type="http://schemas.openxmlformats.org/officeDocument/2006/relationships/notesSlide" Target="/ppt/notesSlides/notesSlide4.xml" Id="R53f31444cc1740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d92cf0e73d4714" /><Relationship Type="http://schemas.openxmlformats.org/officeDocument/2006/relationships/notesSlide" Target="/ppt/notesSlides/notesSlide5.xml" Id="R2a2a9b47c00548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87ccb881e4c6a" /><Relationship Type="http://schemas.openxmlformats.org/officeDocument/2006/relationships/notesSlide" Target="/ppt/notesSlides/notesSlide6.xml" Id="Rccb580f1602041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fd0c6b4f74475" /><Relationship Type="http://schemas.openxmlformats.org/officeDocument/2006/relationships/notesSlide" Target="/ppt/notesSlides/notesSlide7.xml" Id="R3ccc93d105284d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ad4c7acd0461d" /><Relationship Type="http://schemas.openxmlformats.org/officeDocument/2006/relationships/notesSlide" Target="/ppt/notesSlides/notesSlide8.xml" Id="Rf020be254fc944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42e19e9c84dcb" /><Relationship Type="http://schemas.openxmlformats.org/officeDocument/2006/relationships/notesSlide" Target="/ppt/notesSlides/notesSlide9.xml" Id="R192003bcdb1f4e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f0c1e80a124d1c" /><Relationship Type="http://schemas.openxmlformats.org/officeDocument/2006/relationships/notesSlide" Target="/ppt/notesSlides/notesSlide10.xml" Id="R3fc0618b13814f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7dd907734441c" /><Relationship Type="http://schemas.openxmlformats.org/officeDocument/2006/relationships/notesSlide" Target="/ppt/notesSlides/notesSlide11.xml" Id="Rd4ee93edcef24d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fa00df7844a79" /><Relationship Type="http://schemas.openxmlformats.org/officeDocument/2006/relationships/notesSlide" Target="/ppt/notesSlides/notesSlide12.xml" Id="R83c433b6e9e14b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86047B73-97EB-45E5-A5C8-0ED2B0ED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498C2C9-12B9-4DF3-80B5-B46539D8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763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面向多 Agent 的</a:t>
            </a:r>
          </a:p>
          <a:p xmlns:a="http://schemas.openxmlformats.org/drawingml/2006/main">
            <a:pPr algn="l">
              <a:defRPr sz="4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人机协同绘图服务</a:t>
            </a:r>
          </a:p>
        </p:txBody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9BC2C3B5-E639-4FFA-A53D-C452C186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4" name="平台 Widgets 伴生画布与个人编码 Agent 交互">
            <a:extLst xmlns:a="http://schemas.openxmlformats.org/drawingml/2006/main">
              <a:ext uri="{FF2B5EF4-FFF2-40B4-BE49-F238E27FC236}">
                <a16:creationId xmlns:a16="http://schemas.microsoft.com/office/drawing/2014/main" id="{9143A5BF-B0EF-461E-94B4-71440773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平台 Widgets 伴生画布与个人编码 Agent 交互</a:t>
            </a:r>
          </a:p>
        </p:txBody>
      </p:sp>
      <p:sp>
        <p:nvSpPr>
          <p:cNvPr id="5" name="项目方案与 10～100 人演进规划">
            <a:extLst xmlns:a="http://schemas.openxmlformats.org/drawingml/2006/main">
              <a:ext uri="{FF2B5EF4-FFF2-40B4-BE49-F238E27FC236}">
                <a16:creationId xmlns:a16="http://schemas.microsoft.com/office/drawing/2014/main" id="{4B981025-2F15-4785-B7A4-DDDCA099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项目方案与 10～100 人演进规划</a:t>
            </a:r>
          </a:p>
        </p:txBody>
      </p:sp>
      <p:sp>
        <p:nvSpPr>
          <p:cNvPr id="6" name="2026.10.15">
            <a:extLst xmlns:a="http://schemas.openxmlformats.org/drawingml/2006/main">
              <a:ext uri="{FF2B5EF4-FFF2-40B4-BE49-F238E27FC236}">
                <a16:creationId xmlns:a16="http://schemas.microsoft.com/office/drawing/2014/main" id="{EF383DD7-63AB-4D53-B800-429F48BD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2026.10.15</a:t>
            </a:r>
          </a:p>
        </p:txBody>
      </p:sp>
    </p:spTree>
    <p:extLst>
      <p:ext uri="{BB962C8B-B14F-4D97-AF65-F5344CB8AC3E}">
        <p14:creationId xmlns:p14="http://schemas.microsoft.com/office/powerpoint/2010/main" val="1740080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BA8C8-E11A-4543-ACD2-C6CE02258540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24900" y="50911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headEnd type="none" w="med" len="me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6BF72-E1A1-47D2-8D54-A76AB92633C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67400" y="50911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headEnd type="none" w="med" len="me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F94A6-058A-4340-8900-313D0DB41FB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9900" y="50911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headEnd type="none" w="med" len="med"/>
            <a:tailEnd type="arrow" w="med" len="med"/>
          </a:ln>
        </p:spPr>
      </p:cxnSp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0817FB-F282-4E98-9514-14BF40CF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业务同事与 Agent 共用画布，持续修改同一份图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A70560F2-315B-4C63-871E-03F42A1E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EFEAD757-7B7D-43D7-9C6A-886D39C0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B850ADDA-5891-4FC0-B46F-9548CEC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02 / 08">
            <a:extLst xmlns:a="http://schemas.openxmlformats.org/drawingml/2006/main">
              <a:ext uri="{FF2B5EF4-FFF2-40B4-BE49-F238E27FC236}">
                <a16:creationId xmlns:a16="http://schemas.microsoft.com/office/drawing/2014/main" id="{71ACAE39-8D0A-4D08-9EFF-D9B2730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6F18A-4A7B-41C3-A82D-C6B27EC40044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600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86275"/>
                <a:gridCol w="4486275"/>
              </a:tblGrid>
              <a:tr h="54292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使用入口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业务同事如何参与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如何协作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</a:tr>
              <a:tr h="102870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平台伴生画布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在平台 Widgets 中查看、拖拽和修订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目标场景：Nexent 等 Agent 平台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MCP 生成、读取和修改 XML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画布持续显示最新图形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102870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个人编码 Agent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浏览器打开独立画布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本地编码 Agent、内网 CodeAgent / CodeArts 等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MCP 与同一绘图服务交互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人工调整可回读给 Agent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业务描述需求">
            <a:extLst xmlns:a="http://schemas.openxmlformats.org/drawingml/2006/main">
              <a:ext uri="{FF2B5EF4-FFF2-40B4-BE49-F238E27FC236}">
                <a16:creationId xmlns:a16="http://schemas.microsoft.com/office/drawing/2014/main" id="{034CBE6E-9AB8-4908-8ADB-185D2EC2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4003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8" name="业务描述需求">
            <a:extLst xmlns:a="http://schemas.openxmlformats.org/drawingml/2006/main">
              <a:ext uri="{FF2B5EF4-FFF2-40B4-BE49-F238E27FC236}">
                <a16:creationId xmlns:a16="http://schemas.microsoft.com/office/drawing/2014/main" id="{2C9DC146-A290-4925-BFAA-C4BE0A6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业务描述需求</a:t>
            </a:r>
          </a:p>
        </p:txBody>
      </p:sp>
      <p:sp>
        <p:nvSpPr>
          <p:cNvPr id="9" name="自然语言说明">
            <a:extLst xmlns:a="http://schemas.openxmlformats.org/drawingml/2006/main">
              <a:ext uri="{FF2B5EF4-FFF2-40B4-BE49-F238E27FC236}">
                <a16:creationId xmlns:a16="http://schemas.microsoft.com/office/drawing/2014/main" id="{A19860DA-F99B-4749-A252-FA701BF4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自然语言说明</a:t>
            </a:r>
          </a:p>
        </p:txBody>
      </p:sp>
      <p:sp>
        <p:nvSpPr>
          <p:cNvPr id="10" name="Agent 生成 XML">
            <a:extLst xmlns:a="http://schemas.openxmlformats.org/drawingml/2006/main">
              <a:ext uri="{FF2B5EF4-FFF2-40B4-BE49-F238E27FC236}">
                <a16:creationId xmlns:a16="http://schemas.microsoft.com/office/drawing/2014/main" id="{0659AF23-0884-4BBD-8634-7E2DAC75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29150"/>
            <a:ext cx="24003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11" name="Agent 生成 XML">
            <a:extLst xmlns:a="http://schemas.openxmlformats.org/drawingml/2006/main">
              <a:ext uri="{FF2B5EF4-FFF2-40B4-BE49-F238E27FC236}">
                <a16:creationId xmlns:a16="http://schemas.microsoft.com/office/drawing/2014/main" id="{53D91B0C-1321-4EC1-BD43-25CEE9B7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Agent 生成 XML</a:t>
            </a:r>
          </a:p>
        </p:txBody>
      </p:sp>
      <p:sp>
        <p:nvSpPr>
          <p:cNvPr id="12" name="校验后推送画布">
            <a:extLst xmlns:a="http://schemas.openxmlformats.org/drawingml/2006/main">
              <a:ext uri="{FF2B5EF4-FFF2-40B4-BE49-F238E27FC236}">
                <a16:creationId xmlns:a16="http://schemas.microsoft.com/office/drawing/2014/main" id="{B022E039-845A-4E9C-93B7-7B1663D6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054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校验后推送画布</a:t>
            </a:r>
          </a:p>
        </p:txBody>
      </p:sp>
      <p:sp>
        <p:nvSpPr>
          <p:cNvPr id="13" name="人工修改画布">
            <a:extLst xmlns:a="http://schemas.openxmlformats.org/drawingml/2006/main">
              <a:ext uri="{FF2B5EF4-FFF2-40B4-BE49-F238E27FC236}">
                <a16:creationId xmlns:a16="http://schemas.microsoft.com/office/drawing/2014/main" id="{1511BBBE-D73E-41EA-A61C-C04A91F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24003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14" name="人工修改画布">
            <a:extLst xmlns:a="http://schemas.openxmlformats.org/drawingml/2006/main">
              <a:ext uri="{FF2B5EF4-FFF2-40B4-BE49-F238E27FC236}">
                <a16:creationId xmlns:a16="http://schemas.microsoft.com/office/drawing/2014/main" id="{7DFDF1B5-61A7-4AF5-90A9-4EA61620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人工修改画布</a:t>
            </a:r>
          </a:p>
        </p:txBody>
      </p:sp>
      <p:sp>
        <p:nvSpPr>
          <p:cNvPr id="15" name="实时看到并调整">
            <a:extLst xmlns:a="http://schemas.openxmlformats.org/drawingml/2006/main">
              <a:ext uri="{FF2B5EF4-FFF2-40B4-BE49-F238E27FC236}">
                <a16:creationId xmlns:a16="http://schemas.microsoft.com/office/drawing/2014/main" id="{30BA4FEC-5F51-4AD0-B14A-A2E345E5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实时看到并调整</a:t>
            </a:r>
          </a:p>
        </p:txBody>
      </p:sp>
      <p:sp>
        <p:nvSpPr>
          <p:cNvPr id="16" name="Agent 回读迭代">
            <a:extLst xmlns:a="http://schemas.openxmlformats.org/drawingml/2006/main">
              <a:ext uri="{FF2B5EF4-FFF2-40B4-BE49-F238E27FC236}">
                <a16:creationId xmlns:a16="http://schemas.microsoft.com/office/drawing/2014/main" id="{57276C24-54FA-4084-A716-34E2F22E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29150"/>
            <a:ext cx="24003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17" name="Agent 回读迭代">
            <a:extLst xmlns:a="http://schemas.openxmlformats.org/drawingml/2006/main">
              <a:ext uri="{FF2B5EF4-FFF2-40B4-BE49-F238E27FC236}">
                <a16:creationId xmlns:a16="http://schemas.microsoft.com/office/drawing/2014/main" id="{AB4E39AB-6205-43AC-856B-4F183218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43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Agent 回读迭代</a:t>
            </a:r>
          </a:p>
        </p:txBody>
      </p:sp>
      <p:sp>
        <p:nvSpPr>
          <p:cNvPr id="18" name="沿用人工修改">
            <a:extLst xmlns:a="http://schemas.openxmlformats.org/drawingml/2006/main">
              <a:ext uri="{FF2B5EF4-FFF2-40B4-BE49-F238E27FC236}">
                <a16:creationId xmlns:a16="http://schemas.microsoft.com/office/drawing/2014/main" id="{7FF5E78F-28A8-4FCB-9748-97B0712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沿用人工修改</a:t>
            </a:r>
          </a:p>
        </p:txBody>
      </p:sp>
      <p:sp>
        <p:nvSpPr>
          <p:cNvPr id="22" name="内部部署为业务图形数据驻留提供基础，接入平台与模型的数据流需一并">
            <a:extLst xmlns:a="http://schemas.openxmlformats.org/drawingml/2006/main">
              <a:ext uri="{FF2B5EF4-FFF2-40B4-BE49-F238E27FC236}">
                <a16:creationId xmlns:a16="http://schemas.microsoft.com/office/drawing/2014/main" id="{44BEC6B3-6B3F-4944-9452-93EA1D5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内部部署为业务图形数据驻留提供基础，接入平台与模型的数据流需一并纳管</a:t>
            </a:r>
          </a:p>
        </p:txBody>
      </p:sp>
    </p:spTree>
    <p:extLst>
      <p:ext uri="{BB962C8B-B14F-4D97-AF65-F5344CB8AC3E}">
        <p14:creationId xmlns:p14="http://schemas.microsoft.com/office/powerpoint/2010/main" val="1223601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6AAAE-5DC5-4FF8-9C41-890C0A89624C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177338" y="4324350"/>
            <a:ext cx="738188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B6068"/>
            </a:solidFill>
            <a:headEnd type="none" w="med" len="me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427B62-6C70-4F77-BB05-734F8EC6E701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3014663" y="4324350"/>
            <a:ext cx="3081338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B6068"/>
            </a:solidFill>
            <a:headEnd type="none" w="med" len="me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EAFF3-FFD2-4C14-B526-02E8E3B68496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2276475" y="4324350"/>
            <a:ext cx="738188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B6068"/>
            </a:solidFill>
            <a:headEnd type="none" w="med" len="me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05622-0893-4614-BBE6-5F399CCC7F9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419725" y="382905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headEnd type="arrow" w="med" len="me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78653-AF87-41F8-AF50-7C2C97ACA037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177338" y="25241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068"/>
            </a:solidFill>
            <a:headEnd type="arrow" w="med" len="me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0F0F6-8402-4D13-9A65-1CF76B49CB6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14663" y="25241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068"/>
            </a:solidFill>
            <a:headEnd type="arrow" w="med" len="med"/>
            <a:tailEnd type="arrow" w="med" len="med"/>
          </a:ln>
        </p:spPr>
      </p:cxn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5F91DA-574F-4FDE-9B73-7F5AA8F1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现有架构：MCP 控制图形，Widgets 承载交互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938EDD24-05E1-404B-9D9E-D24A8EC0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68B3B7FD-A9BC-4288-855D-54F7058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54C7CE3D-925D-4741-BAB6-EC2A8BE9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03 / 08">
            <a:extLst xmlns:a="http://schemas.openxmlformats.org/drawingml/2006/main">
              <a:ext uri="{FF2B5EF4-FFF2-40B4-BE49-F238E27FC236}">
                <a16:creationId xmlns:a16="http://schemas.microsoft.com/office/drawing/2014/main" id="{1E1850F5-5586-450A-B955-44813BCF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6" name="平台 Agent / 个人编码 Agent">
            <a:extLst xmlns:a="http://schemas.openxmlformats.org/drawingml/2006/main">
              <a:ext uri="{FF2B5EF4-FFF2-40B4-BE49-F238E27FC236}">
                <a16:creationId xmlns:a16="http://schemas.microsoft.com/office/drawing/2014/main" id="{9C65D9AE-6FD4-4A8B-BD01-16E4695C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810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55775"/>
            </a:solidFill>
          </a:ln>
        </p:spPr>
      </p:sp>
      <p:sp>
        <p:nvSpPr>
          <p:cNvPr id="7" name="平台 Agent / 个人编码 Agent">
            <a:extLst xmlns:a="http://schemas.openxmlformats.org/drawingml/2006/main">
              <a:ext uri="{FF2B5EF4-FFF2-40B4-BE49-F238E27FC236}">
                <a16:creationId xmlns:a16="http://schemas.microsoft.com/office/drawing/2014/main" id="{71C988AB-DFF7-496E-A5B2-F4A30149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4505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平台 Agent / 个人编码 Agent</a:t>
            </a:r>
          </a:p>
        </p:txBody>
      </p:sp>
      <p:sp>
        <p:nvSpPr>
          <p:cNvPr id="8" name="MCP 工具调用">
            <a:extLst xmlns:a="http://schemas.openxmlformats.org/drawingml/2006/main">
              <a:ext uri="{FF2B5EF4-FFF2-40B4-BE49-F238E27FC236}">
                <a16:creationId xmlns:a16="http://schemas.microsoft.com/office/drawing/2014/main" id="{EE56738E-5BE3-4A6A-82B0-5DE7119E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MCP 工具调用</a:t>
            </a:r>
          </a:p>
        </p:txBody>
      </p:sp>
      <p:sp>
        <p:nvSpPr>
          <p:cNvPr id="9" name="业务同事的浏览器">
            <a:extLst xmlns:a="http://schemas.openxmlformats.org/drawingml/2006/main">
              <a:ext uri="{FF2B5EF4-FFF2-40B4-BE49-F238E27FC236}">
                <a16:creationId xmlns:a16="http://schemas.microsoft.com/office/drawing/2014/main" id="{85F43413-9023-4F05-9607-59FBF6DF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571625"/>
            <a:ext cx="4810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55775"/>
            </a:solidFill>
          </a:ln>
        </p:spPr>
      </p:sp>
      <p:sp>
        <p:nvSpPr>
          <p:cNvPr id="10" name="业务同事的浏览器">
            <a:extLst xmlns:a="http://schemas.openxmlformats.org/drawingml/2006/main">
              <a:ext uri="{FF2B5EF4-FFF2-40B4-BE49-F238E27FC236}">
                <a16:creationId xmlns:a16="http://schemas.microsoft.com/office/drawing/2014/main" id="{5A53C207-B2D9-4C9C-85FD-B4E41110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85925"/>
            <a:ext cx="4505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业务同事的浏览器</a:t>
            </a:r>
          </a:p>
        </p:txBody>
      </p:sp>
      <p:sp>
        <p:nvSpPr>
          <p:cNvPr id="11" name="平台 Widget 或独立 draw.io 画布">
            <a:extLst xmlns:a="http://schemas.openxmlformats.org/drawingml/2006/main">
              <a:ext uri="{FF2B5EF4-FFF2-40B4-BE49-F238E27FC236}">
                <a16:creationId xmlns:a16="http://schemas.microsoft.com/office/drawing/2014/main" id="{3A648DFC-E32A-42F7-9495-F460A341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47875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平台 Widget 或独立 draw.io 画布</a:t>
            </a:r>
          </a:p>
        </p:txBody>
      </p:sp>
      <p:sp>
        <p:nvSpPr>
          <p:cNvPr id="12" name="Node.js 主服务">
            <a:extLst xmlns:a="http://schemas.openxmlformats.org/drawingml/2006/main">
              <a:ext uri="{FF2B5EF4-FFF2-40B4-BE49-F238E27FC236}">
                <a16:creationId xmlns:a16="http://schemas.microsoft.com/office/drawing/2014/main" id="{C6D0B308-CC17-4E14-BC25-42359478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Node.js 主服务</a:t>
            </a:r>
          </a:p>
        </p:txBody>
      </p:sp>
      <p:sp>
        <p:nvSpPr>
          <p:cNvPr id="13" name="MCP / REST API">
            <a:extLst xmlns:a="http://schemas.openxmlformats.org/drawingml/2006/main">
              <a:ext uri="{FF2B5EF4-FFF2-40B4-BE49-F238E27FC236}">
                <a16:creationId xmlns:a16="http://schemas.microsoft.com/office/drawing/2014/main" id="{BB8EF630-2390-472E-8BC1-6909741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810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14" name="MCP / REST API">
            <a:extLst xmlns:a="http://schemas.openxmlformats.org/drawingml/2006/main">
              <a:ext uri="{FF2B5EF4-FFF2-40B4-BE49-F238E27FC236}">
                <a16:creationId xmlns:a16="http://schemas.microsoft.com/office/drawing/2014/main" id="{D0BD8079-7CCF-4835-9D6D-B9D25F3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505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MCP / REST API</a:t>
            </a:r>
          </a:p>
        </p:txBody>
      </p:sp>
      <p:sp>
        <p:nvSpPr>
          <p:cNvPr id="15" name="XML 读写、校验、导出编排">
            <a:extLst xmlns:a="http://schemas.openxmlformats.org/drawingml/2006/main">
              <a:ext uri="{FF2B5EF4-FFF2-40B4-BE49-F238E27FC236}">
                <a16:creationId xmlns:a16="http://schemas.microsoft.com/office/drawing/2014/main" id="{AA134229-6045-4ECF-B9DD-6F4B416E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543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XML 读写、校验、导出编排</a:t>
            </a:r>
          </a:p>
        </p:txBody>
      </p:sp>
      <p:sp>
        <p:nvSpPr>
          <p:cNvPr id="16" name="画布代理与实时通道">
            <a:extLst xmlns:a="http://schemas.openxmlformats.org/drawingml/2006/main">
              <a:ext uri="{FF2B5EF4-FFF2-40B4-BE49-F238E27FC236}">
                <a16:creationId xmlns:a16="http://schemas.microsoft.com/office/drawing/2014/main" id="{13A5D528-8A28-4B6C-8BE2-001168E4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333750"/>
            <a:ext cx="4810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17" name="画布代理与实时通道">
            <a:extLst xmlns:a="http://schemas.openxmlformats.org/drawingml/2006/main">
              <a:ext uri="{FF2B5EF4-FFF2-40B4-BE49-F238E27FC236}">
                <a16:creationId xmlns:a16="http://schemas.microsoft.com/office/drawing/2014/main" id="{879FCAA2-EEA9-4D0F-B21C-8AA874A9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48050"/>
            <a:ext cx="4505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画布代理与实时通道</a:t>
            </a:r>
          </a:p>
        </p:txBody>
      </p:sp>
      <p:sp>
        <p:nvSpPr>
          <p:cNvPr id="18" name="nodeId 节点状态、WebSocket / SSE">
            <a:extLst xmlns:a="http://schemas.openxmlformats.org/drawingml/2006/main">
              <a:ext uri="{FF2B5EF4-FFF2-40B4-BE49-F238E27FC236}">
                <a16:creationId xmlns:a16="http://schemas.microsoft.com/office/drawing/2014/main" id="{DE813F95-1F97-4060-A6F1-45AB27FF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4543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nodeId 节点状态、WebSocket / SSE</a:t>
            </a:r>
          </a:p>
        </p:txBody>
      </p:sp>
      <p:sp>
        <p:nvSpPr>
          <p:cNvPr id="22" name="XML">
            <a:extLst xmlns:a="http://schemas.openxmlformats.org/drawingml/2006/main">
              <a:ext uri="{FF2B5EF4-FFF2-40B4-BE49-F238E27FC236}">
                <a16:creationId xmlns:a16="http://schemas.microsoft.com/office/drawing/2014/main" id="{CAB0579A-0880-4399-BEA1-33F5BB0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956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XML</a:t>
            </a:r>
          </a:p>
        </p:txBody>
      </p:sp>
      <p:sp>
        <p:nvSpPr>
          <p:cNvPr id="23" name="PNG 导出服务">
            <a:extLst xmlns:a="http://schemas.openxmlformats.org/drawingml/2006/main">
              <a:ext uri="{FF2B5EF4-FFF2-40B4-BE49-F238E27FC236}">
                <a16:creationId xmlns:a16="http://schemas.microsoft.com/office/drawing/2014/main" id="{B0B64848-2918-40C4-ABD9-EBEAAFA0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3333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24" name="PNG 导出服务">
            <a:extLst xmlns:a="http://schemas.openxmlformats.org/drawingml/2006/main">
              <a:ext uri="{FF2B5EF4-FFF2-40B4-BE49-F238E27FC236}">
                <a16:creationId xmlns:a16="http://schemas.microsoft.com/office/drawing/2014/main" id="{34B520D5-542B-4F14-8173-7DA3738E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PNG 导出服务</a:t>
            </a:r>
          </a:p>
        </p:txBody>
      </p:sp>
      <p:sp>
        <p:nvSpPr>
          <p:cNvPr id="25" name="官方 export-server">
            <a:extLst xmlns:a="http://schemas.openxmlformats.org/drawingml/2006/main">
              <a:ext uri="{FF2B5EF4-FFF2-40B4-BE49-F238E27FC236}">
                <a16:creationId xmlns:a16="http://schemas.microsoft.com/office/drawing/2014/main" id="{9266646A-FA67-4CE9-BA5B-AC8946A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官方 export-server</a:t>
            </a:r>
          </a:p>
        </p:txBody>
      </p:sp>
      <p:sp>
        <p:nvSpPr>
          <p:cNvPr id="26" name="SVG 导出器">
            <a:extLst xmlns:a="http://schemas.openxmlformats.org/drawingml/2006/main">
              <a:ext uri="{FF2B5EF4-FFF2-40B4-BE49-F238E27FC236}">
                <a16:creationId xmlns:a16="http://schemas.microsoft.com/office/drawing/2014/main" id="{D9E6FCDC-1884-4818-8872-4A313DAA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95850"/>
            <a:ext cx="3333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27" name="SVG 导出器">
            <a:extLst xmlns:a="http://schemas.openxmlformats.org/drawingml/2006/main">
              <a:ext uri="{FF2B5EF4-FFF2-40B4-BE49-F238E27FC236}">
                <a16:creationId xmlns:a16="http://schemas.microsoft.com/office/drawing/2014/main" id="{D866F5F9-8B88-4549-A45D-867B8119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0101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SVG 导出器</a:t>
            </a:r>
          </a:p>
        </p:txBody>
      </p:sp>
      <p:sp>
        <p:nvSpPr>
          <p:cNvPr id="28" name="自研脚本 + 无头 Chrome">
            <a:extLst xmlns:a="http://schemas.openxmlformats.org/drawingml/2006/main">
              <a:ext uri="{FF2B5EF4-FFF2-40B4-BE49-F238E27FC236}">
                <a16:creationId xmlns:a16="http://schemas.microsoft.com/office/drawing/2014/main" id="{86409836-132A-4CAF-8935-A1448928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372100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自研脚本 + 无头 Chrome</a:t>
            </a:r>
          </a:p>
        </p:txBody>
      </p:sp>
      <p:sp>
        <p:nvSpPr>
          <p:cNvPr id="29" name="draw.io Webapp">
            <a:extLst xmlns:a="http://schemas.openxmlformats.org/drawingml/2006/main">
              <a:ext uri="{FF2B5EF4-FFF2-40B4-BE49-F238E27FC236}">
                <a16:creationId xmlns:a16="http://schemas.microsoft.com/office/drawing/2014/main" id="{53FDDE48-C31A-4858-8497-15360850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95850"/>
            <a:ext cx="3333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30" name="draw.io Webapp">
            <a:extLst xmlns:a="http://schemas.openxmlformats.org/drawingml/2006/main">
              <a:ext uri="{FF2B5EF4-FFF2-40B4-BE49-F238E27FC236}">
                <a16:creationId xmlns:a16="http://schemas.microsoft.com/office/drawing/2014/main" id="{28BD106A-23DB-4405-8161-729862A4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draw.io Webapp</a:t>
            </a:r>
          </a:p>
        </p:txBody>
      </p:sp>
      <p:sp>
        <p:nvSpPr>
          <p:cNvPr id="31" name="浏览器可视化编辑器">
            <a:extLst xmlns:a="http://schemas.openxmlformats.org/drawingml/2006/main">
              <a:ext uri="{FF2B5EF4-FFF2-40B4-BE49-F238E27FC236}">
                <a16:creationId xmlns:a16="http://schemas.microsoft.com/office/drawing/2014/main" id="{E6C52337-DE44-4D22-98ED-C2661488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浏览器可视化编辑器</a:t>
            </a:r>
          </a:p>
        </p:txBody>
      </p:sp>
      <p:sp>
        <p:nvSpPr>
          <p:cNvPr id="35" name="当前：单节点 ECS 测试，Compose 将主服务、编辑器和两">
            <a:extLst xmlns:a="http://schemas.openxmlformats.org/drawingml/2006/main">
              <a:ext uri="{FF2B5EF4-FFF2-40B4-BE49-F238E27FC236}">
                <a16:creationId xmlns:a16="http://schemas.microsoft.com/office/drawing/2014/main" id="{947F2C24-FDF7-498A-A87E-B5F5D1E6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当前：单节点 ECS 测试，Compose 将主服务、编辑器和两类导出服务分开部署</a:t>
            </a:r>
          </a:p>
        </p:txBody>
      </p:sp>
    </p:spTree>
    <p:extLst>
      <p:ext uri="{BB962C8B-B14F-4D97-AF65-F5344CB8AC3E}">
        <p14:creationId xmlns:p14="http://schemas.microsoft.com/office/powerpoint/2010/main" val="1307467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655E33-9CBF-4DB9-961B-2F3434A9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draw.io 的 XML 兼顾精细表达与人机双向编辑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47EC85F1-4721-4B29-9C58-587CD195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CBBC004E-A22D-4134-8533-2659B55D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3D71D5C9-8170-4EB7-B6BE-0B98BC62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04 / 08">
            <a:extLst xmlns:a="http://schemas.openxmlformats.org/drawingml/2006/main">
              <a:ext uri="{FF2B5EF4-FFF2-40B4-BE49-F238E27FC236}">
                <a16:creationId xmlns:a16="http://schemas.microsoft.com/office/drawing/2014/main" id="{66773B35-E6EC-4761-A7CC-5B6FC839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97C68-4931-4B9D-8FED-2A64774811E9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1650"/>
                <a:gridCol w="4600575"/>
                <a:gridCol w="4600575"/>
              </a:tblGrid>
              <a:tr h="5619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draw.io XML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Mermaid 文本语法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</a:tr>
              <a:tr h="9429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表达与布局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显式描述几何位置、样式和分组</a:t>
                      </a:r>
                    </a:p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适合需要精细排版的业务图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简洁描述节点和关系</a:t>
                      </a:r>
                    </a:p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主要由布局引擎计算位置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9429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人工参与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业务同事直接拖拽、修改图形</a:t>
                      </a:r>
                    </a:p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可回读当前 XML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适合通过文本持续维护图形</a:t>
                      </a:r>
                    </a:p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视觉效果随语法和布局配置生成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模型配合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XML 可作为文本进入模型上下文</a:t>
                      </a:r>
                    </a:p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配合结构校验与渲染反馈迭代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语法紧凑，适合快速表达关系</a:t>
                      </a:r>
                    </a:p>
                    <a:p>
                      <a:pPr algn="l"/>
                      <a:r>
                        <a:rPr sz="187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适用于文档中的标准图形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本项目适合：需要人工精修、平台伴生画布和可编辑成果的业务场景">
            <a:extLst xmlns:a="http://schemas.openxmlformats.org/drawingml/2006/main">
              <a:ext uri="{FF2B5EF4-FFF2-40B4-BE49-F238E27FC236}">
                <a16:creationId xmlns:a16="http://schemas.microsoft.com/office/drawing/2014/main" id="{7BB8022F-171A-4157-8241-CF9B9E50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本项目适合：需要人工精修、平台伴生画布和可编辑成果的业务场景</a:t>
            </a:r>
          </a:p>
        </p:txBody>
      </p:sp>
      <p:sp>
        <p:nvSpPr>
          <p:cNvPr id="8" name="模型生成质量仍需按具体模型、图形复杂度和提示模板验证">
            <a:extLst xmlns:a="http://schemas.openxmlformats.org/drawingml/2006/main">
              <a:ext uri="{FF2B5EF4-FFF2-40B4-BE49-F238E27FC236}">
                <a16:creationId xmlns:a16="http://schemas.microsoft.com/office/drawing/2014/main" id="{15188894-5EF2-4AE8-B5C0-3D20B7A2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模型生成质量仍需按具体模型、图形复杂度和提示模板验证</a:t>
            </a:r>
          </a:p>
        </p:txBody>
      </p:sp>
    </p:spTree>
    <p:extLst>
      <p:ext uri="{BB962C8B-B14F-4D97-AF65-F5344CB8AC3E}">
        <p14:creationId xmlns:p14="http://schemas.microsoft.com/office/powerpoint/2010/main" val="1432286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6904E7-CCF1-4C59-91F8-EA6924D7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容量规划：10 人试用，50～100 人按负载扩容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56FF3389-CD59-45F2-BEDC-8C2C0A26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4B579678-B1E4-4489-8D49-F8E252EB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EFEB6FCF-F26F-4868-8CBC-9FB0A5E1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05 / 08">
            <a:extLst xmlns:a="http://schemas.openxmlformats.org/drawingml/2006/main">
              <a:ext uri="{FF2B5EF4-FFF2-40B4-BE49-F238E27FC236}">
                <a16:creationId xmlns:a16="http://schemas.microsoft.com/office/drawing/2014/main" id="{362DB108-A18C-428B-BC62-63AD79E9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6" name="示例假设：每人每 10 秒一次控制请求、每 5 分钟一次导出，单">
            <a:extLst xmlns:a="http://schemas.openxmlformats.org/drawingml/2006/main">
              <a:ext uri="{FF2B5EF4-FFF2-40B4-BE49-F238E27FC236}">
                <a16:creationId xmlns:a16="http://schemas.microsoft.com/office/drawing/2014/main" id="{09785D75-9CEC-473A-A8B7-D723F58E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示例假设：每人每 10 秒一次控制请求、每 5 分钟一次导出，单次导出占用 4 秒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03376-A523-4A02-8985-1D10BC8123B3}"/>
              </a:ext>
            </a:extLst>
          </p:cNvPr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095500"/>
                <a:gridCol w="2190750"/>
                <a:gridCol w="2438400"/>
                <a:gridCol w="2438400"/>
              </a:tblGrid>
              <a:tr h="590550"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同时在线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控制请求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导出需求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单渲染槽占用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规划渲染槽位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</a:tr>
              <a:tr h="723900"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人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次/秒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次/分钟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13%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个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723900"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人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次/秒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次/分钟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67%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个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人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次/秒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次/分钟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133%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SVG 当前单实例串行。按 60% 稳态利用率规划 1 / 2 ">
            <a:extLst xmlns:a="http://schemas.openxmlformats.org/drawingml/2006/main">
              <a:ext uri="{FF2B5EF4-FFF2-40B4-BE49-F238E27FC236}">
                <a16:creationId xmlns:a16="http://schemas.microsoft.com/office/drawing/2014/main" id="{23E1EBF1-FEA1-4E57-B2C4-98CE4779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SVG 当前单实例串行。按 60% 稳态利用率规划 1 / 2 / 3 个独立渲染槽位</a:t>
            </a:r>
          </a:p>
        </p:txBody>
      </p:sp>
      <p:sp>
        <p:nvSpPr>
          <p:cNvPr id="9" name="以上为测算，非压测结论。当前 ECS 规格和经实测确认的并发上限">
            <a:extLst xmlns:a="http://schemas.openxmlformats.org/drawingml/2006/main">
              <a:ext uri="{FF2B5EF4-FFF2-40B4-BE49-F238E27FC236}">
                <a16:creationId xmlns:a16="http://schemas.microsoft.com/office/drawing/2014/main" id="{F69036CC-451C-4503-BD20-5A7E7CB2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以上为测算，非压测结论。当前 ECS 规格和经实测确认的并发上限尚未提供</a:t>
            </a:r>
          </a:p>
        </p:txBody>
      </p:sp>
    </p:spTree>
    <p:extLst>
      <p:ext uri="{BB962C8B-B14F-4D97-AF65-F5344CB8AC3E}">
        <p14:creationId xmlns:p14="http://schemas.microsoft.com/office/powerpoint/2010/main" val="1986967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F7B420-6468-414C-B970-DC7C2A91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内网部署支撑数据保密，授权与可靠性逐步完善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E2A1AF25-B6A0-4A0E-9678-1F2BAB61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3BBA4C64-074E-4486-855E-3C3C240C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D6316F5E-F92C-4552-8CC0-37897D98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06 / 08">
            <a:extLst xmlns:a="http://schemas.openxmlformats.org/drawingml/2006/main">
              <a:ext uri="{FF2B5EF4-FFF2-40B4-BE49-F238E27FC236}">
                <a16:creationId xmlns:a16="http://schemas.microsoft.com/office/drawing/2014/main" id="{87462581-1AD0-43A9-A2A9-4EDF8FE9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5BF63-B057-456A-BDA1-867E7B5F3AE7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52950"/>
                <a:gridCol w="4591050"/>
              </a:tblGrid>
              <a:tr h="58102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建设方向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当前基础与边界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多人试用前的重点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</a:tr>
              <a:tr h="85725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数据驻留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编辑器、字体与导出可走内部地址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/ 模型数据流需同步确认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出口白名单，禁访问云元数据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模型、日志、产物一并纳管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85725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身份与权限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nodeId 即访问凭证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开发端点有全量节点能力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统一身份与画布归属校验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封闭开发端点，隔离管理入口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保存与恢复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热画布在内存，重启可能丢失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冷文件落本地磁盘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保存确认前持久化，增加版本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建立备份与恢复演练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85725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服务可控性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SVG 串行队列无显式长度上限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产物与会话缺少完整配额治理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限流、有界队列、超时与审计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设置产物保留期及访问控制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建设目标：图形数据在受控环境中流转，每次操作可授权、可追溯、可恢">
            <a:extLst xmlns:a="http://schemas.openxmlformats.org/drawingml/2006/main">
              <a:ext uri="{FF2B5EF4-FFF2-40B4-BE49-F238E27FC236}">
                <a16:creationId xmlns:a16="http://schemas.microsoft.com/office/drawing/2014/main" id="{716CA28E-2C9C-4D2F-A2F9-03BA9125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建设目标：图形数据在受控环境中流转，每次操作可授权、可追溯、可恢复</a:t>
            </a:r>
          </a:p>
        </p:txBody>
      </p:sp>
    </p:spTree>
    <p:extLst>
      <p:ext uri="{BB962C8B-B14F-4D97-AF65-F5344CB8AC3E}">
        <p14:creationId xmlns:p14="http://schemas.microsoft.com/office/powerpoint/2010/main" val="184823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517DD6-0973-40CC-AF01-1DA02EA8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扩容路径：拆分渲染负载，再按需增加业务副本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824F6A9A-46CE-4EC2-B1A3-E9A31275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2463EDEE-72E5-4C1D-B138-E35FDECD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F191AAC1-9F31-4079-8B13-4CE44BB8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07 / 08">
            <a:extLst xmlns:a="http://schemas.openxmlformats.org/drawingml/2006/main">
              <a:ext uri="{FF2B5EF4-FFF2-40B4-BE49-F238E27FC236}">
                <a16:creationId xmlns:a16="http://schemas.microsoft.com/office/drawing/2014/main" id="{0F60EFB8-EA49-4F48-8A8D-C39A4BAE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CCA92-98D0-4FB3-8566-DF9BD448038E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86100"/>
                <a:gridCol w="3086100"/>
                <a:gridCol w="3086100"/>
              </a:tblGrid>
              <a:tr h="61912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演进阶段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人受控验证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人小范围试用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人共享服务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</a:tr>
              <a:tr h="97155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部署方式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沿用单 ECS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保持四服务拆分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独立限制渲染资源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增设渲染槽位与队列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按压测与可用性要求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决定增加业务副本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97155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数据与会话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保存落盘、版本管理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身份与画布授权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逐步外置权威状态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统一产物存储与配额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数据库共享 XML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跨实例通知与连接路由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放量依据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功能闭环与恢复验证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接入一个平台和个人端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记录导出耗时与排队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压测覆盖突发请求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长稳测试与故障切换</a:t>
                      </a:r>
                    </a:p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达到约定服务指标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多副本前置条件：XML 状态共享，MCP 会话可路由，WS / ">
            <a:extLst xmlns:a="http://schemas.openxmlformats.org/drawingml/2006/main">
              <a:ext uri="{FF2B5EF4-FFF2-40B4-BE49-F238E27FC236}">
                <a16:creationId xmlns:a16="http://schemas.microsoft.com/office/drawing/2014/main" id="{A0BF5697-163E-40B4-9127-297CE0B4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多副本前置条件：XML 状态共享，MCP 会话可路由，WS / SSE 可跨实例通知</a:t>
            </a:r>
          </a:p>
        </p:txBody>
      </p:sp>
      <p:sp>
        <p:nvSpPr>
          <p:cNvPr id="8" name="人数是验证分档，是否升级部署形态由瓶颈和可用性要求决定">
            <a:extLst xmlns:a="http://schemas.openxmlformats.org/drawingml/2006/main">
              <a:ext uri="{FF2B5EF4-FFF2-40B4-BE49-F238E27FC236}">
                <a16:creationId xmlns:a16="http://schemas.microsoft.com/office/drawing/2014/main" id="{54648690-388D-41EB-A2FF-3B1B2C70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人数是验证分档，是否升级部署形态由瓶颈和可用性要求决定</a:t>
            </a:r>
          </a:p>
        </p:txBody>
      </p:sp>
    </p:spTree>
    <p:extLst>
      <p:ext uri="{BB962C8B-B14F-4D97-AF65-F5344CB8AC3E}">
        <p14:creationId xmlns:p14="http://schemas.microsoft.com/office/powerpoint/2010/main" val="1400808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BAD2D8-A001-45BA-B5FE-ED99168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下一步：完成双入口试用，按指标逐步放量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39335BC2-8FF5-47A4-8603-6D846F68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4C2A721C-6D3A-4E81-B428-9CC98FCE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A7D3CB3F-AB7C-4B09-AE5B-A178339E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08 / 08">
            <a:extLst xmlns:a="http://schemas.openxmlformats.org/drawingml/2006/main">
              <a:ext uri="{FF2B5EF4-FFF2-40B4-BE49-F238E27FC236}">
                <a16:creationId xmlns:a16="http://schemas.microsoft.com/office/drawing/2014/main" id="{88FE9E06-B230-4072-BC5D-D190ED9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8298FA21-FC8A-4AB0-BCB8-49C6FBAC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接入验收">
            <a:extLst xmlns:a="http://schemas.openxmlformats.org/drawingml/2006/main">
              <a:ext uri="{FF2B5EF4-FFF2-40B4-BE49-F238E27FC236}">
                <a16:creationId xmlns:a16="http://schemas.microsoft.com/office/drawing/2014/main" id="{31E33DCA-C18B-4B62-A039-1DED7556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7145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接入验收</a:t>
            </a:r>
          </a:p>
        </p:txBody>
      </p:sp>
      <p:sp>
        <p:nvSpPr>
          <p:cNvPr id="8" name="选择一个平台 Agent 和一个个人编码 Agent&#10;验证打开画">
            <a:extLst xmlns:a="http://schemas.openxmlformats.org/drawingml/2006/main">
              <a:ext uri="{FF2B5EF4-FFF2-40B4-BE49-F238E27FC236}">
                <a16:creationId xmlns:a16="http://schemas.microsoft.com/office/drawing/2014/main" id="{3D8CD0FE-BF51-44EE-A8D5-9D00C1EE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685925"/>
            <a:ext cx="740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选择一个平台 Agent 和一个个人编码 Agent</a:t>
            </a:r>
          </a:p>
          <a:p xmlns:a="http://schemas.openxmlformats.org/drawingml/2006/main">
            <a: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验证打开画布、推送、人工修改、回读与导出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BE5EADEE-C331-44BD-9D61-2CB61E65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2415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C4C47241-6CB6-4D27-9EBA-7362F21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补齐底座">
            <a:extLst xmlns:a="http://schemas.openxmlformats.org/drawingml/2006/main">
              <a:ext uri="{FF2B5EF4-FFF2-40B4-BE49-F238E27FC236}">
                <a16:creationId xmlns:a16="http://schemas.microsoft.com/office/drawing/2014/main" id="{F15F33CD-2454-4A01-8653-401391C4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9908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补齐底座</a:t>
            </a:r>
          </a:p>
        </p:txBody>
      </p:sp>
      <p:sp>
        <p:nvSpPr>
          <p:cNvPr id="12" name="落实身份授权与保存恢复&#10;增加渲染配额、排队监控和审计">
            <a:extLst xmlns:a="http://schemas.openxmlformats.org/drawingml/2006/main">
              <a:ext uri="{FF2B5EF4-FFF2-40B4-BE49-F238E27FC236}">
                <a16:creationId xmlns:a16="http://schemas.microsoft.com/office/drawing/2014/main" id="{E4707FC8-B6B3-4C52-9B18-65EE6679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62275"/>
            <a:ext cx="740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落实身份授权与保存恢复</a:t>
            </a:r>
          </a:p>
          <a:p xmlns:a="http://schemas.openxmlformats.org/drawingml/2006/main">
            <a: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增加渲染配额、排队监控和审计</a:t>
            </a:r>
          </a:p>
        </p:txBody>
      </p:sp>
      <p:sp>
        <p:nvSpPr>
          <p:cNvPr id="13" name="分隔线">
            <a:extLst xmlns:a="http://schemas.openxmlformats.org/drawingml/2006/main">
              <a:ext uri="{FF2B5EF4-FFF2-40B4-BE49-F238E27FC236}">
                <a16:creationId xmlns:a16="http://schemas.microsoft.com/office/drawing/2014/main" id="{70EE05CE-C55F-4987-BBA8-89C508C6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0050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FAEE269F-7890-4302-B67A-4F0A5F16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分档放量">
            <a:extLst xmlns:a="http://schemas.openxmlformats.org/drawingml/2006/main">
              <a:ext uri="{FF2B5EF4-FFF2-40B4-BE49-F238E27FC236}">
                <a16:creationId xmlns:a16="http://schemas.microsoft.com/office/drawing/2014/main" id="{51FFDA18-1176-441B-8B25-A6E35745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2672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分档放量</a:t>
            </a:r>
          </a:p>
        </p:txBody>
      </p:sp>
      <p:sp>
        <p:nvSpPr>
          <p:cNvPr id="16" name="在当前 ECS 上验证 10 / 50 / 100 人负载&#10;依据">
            <a:extLst xmlns:a="http://schemas.openxmlformats.org/drawingml/2006/main">
              <a:ext uri="{FF2B5EF4-FFF2-40B4-BE49-F238E27FC236}">
                <a16:creationId xmlns:a16="http://schemas.microsoft.com/office/drawing/2014/main" id="{0E60ECC9-EAF0-440F-A8BF-82A44BAD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238625"/>
            <a:ext cx="740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在当前 ECS 上验证 10 / 50 / 100 人负载</a:t>
            </a:r>
          </a:p>
          <a:p xmlns:a="http://schemas.openxmlformats.org/drawingml/2006/main">
            <a:pPr algn="l">
              <a:def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依据响应、成功率与资源余量决定扩容</a:t>
            </a:r>
          </a:p>
        </p:txBody>
      </p:sp>
      <p:sp>
        <p:nvSpPr>
          <p:cNvPr id="17" name="面向业务协作，让不同 Agent 复用可编辑、可控的绘图能力">
            <a:extLst xmlns:a="http://schemas.openxmlformats.org/drawingml/2006/main">
              <a:ext uri="{FF2B5EF4-FFF2-40B4-BE49-F238E27FC236}">
                <a16:creationId xmlns:a16="http://schemas.microsoft.com/office/drawing/2014/main" id="{49987A6B-8C0C-4ECF-B9ED-549C5031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面向业务协作，让不同 Agent 复用可编辑、可控的绘图能力</a:t>
            </a:r>
          </a:p>
        </p:txBody>
      </p:sp>
    </p:spTree>
    <p:extLst>
      <p:ext uri="{BB962C8B-B14F-4D97-AF65-F5344CB8AC3E}">
        <p14:creationId xmlns:p14="http://schemas.microsoft.com/office/powerpoint/2010/main" val="567051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31991A-80B0-444E-9F38-34CB76A5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备查：平台适配矩阵与验收范围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33725B5B-843C-4985-969D-523BF848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ED31D348-7D71-4D9A-BF24-0701F218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A8BA5A87-6728-469E-A2D0-04F87406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备查 01">
            <a:extLst xmlns:a="http://schemas.openxmlformats.org/drawingml/2006/main">
              <a:ext uri="{FF2B5EF4-FFF2-40B4-BE49-F238E27FC236}">
                <a16:creationId xmlns:a16="http://schemas.microsoft.com/office/drawing/2014/main" id="{60BFE984-9F8F-4351-89FD-DB754025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备查 01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0CD27-5FF8-4612-839B-BDA0E7210520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4124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43400"/>
                <a:gridCol w="4533900"/>
              </a:tblGrid>
              <a:tr h="58102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接入对象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已有基础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待验收项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</a:tr>
              <a:tr h="88582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Nexent 等平台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服务提供 Streamable HTTP MCP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Nexent 官方支持远程 MCP 接入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鉴权、工具发现、会话与流式结果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Widgets 协议、iframe 和入口联动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88582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个人编码 Agent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服务提供远程 MCP 与独立画布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nodeId 关联人与 Agent 的操作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客户端版本与 HTTP MCP 支持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仅支持 stdio 时需桥接适配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CodeAgent / CodeArts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目标场景由项目作者提供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 MCP 工具与浏览器入口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内网部署版本、证书与网络白名单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平台鉴权和交互能力逐项确认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88582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 Widgets 声明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仓库按 AINA 规范动态生成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widgets.json、工具白名单与路径前缀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不能直接视为各平台通用协议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按平台版本适配并留验收证据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最小验收闭环：建画布、推送、人工编辑、回读、校验、出图、断线重连">
            <a:extLst xmlns:a="http://schemas.openxmlformats.org/drawingml/2006/main">
              <a:ext uri="{FF2B5EF4-FFF2-40B4-BE49-F238E27FC236}">
                <a16:creationId xmlns:a16="http://schemas.microsoft.com/office/drawing/2014/main" id="{77F2AA9C-D6B6-4BB0-A6C9-0F219BE8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最小验收闭环：建画布、推送、人工编辑、回读、校验、出图、断线重连</a:t>
            </a:r>
          </a:p>
        </p:txBody>
      </p:sp>
    </p:spTree>
    <p:extLst>
      <p:ext uri="{BB962C8B-B14F-4D97-AF65-F5344CB8AC3E}">
        <p14:creationId xmlns:p14="http://schemas.microsoft.com/office/powerpoint/2010/main" val="1307414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06E2DA-3DDA-4FB2-BD60-C13A1EF0AC63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0239375" y="461962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068"/>
            </a:solidFill>
            <a:headEnd type="none" w="med" len="med"/>
            <a:tailEnd type="arrow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BDD610-DC2E-44FD-B79D-C12EFB181C4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0239375" y="2762250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068"/>
            </a:solidFill>
            <a:headEnd type="none" w="med" len="med"/>
            <a:tailEnd type="arrow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997E87-927E-4913-9D5D-39E6D5F77F0B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4467225" y="2762250"/>
            <a:ext cx="2762250" cy="733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B6068"/>
            </a:solidFill>
            <a:headEnd type="none" w="med" len="me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7BD228-C4EB-4670-9C97-DBE1054E4EC0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229475" y="2762250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068"/>
            </a:solidFill>
            <a:headEnd type="arrow" w="med" len="me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A659A-DCCC-45C2-97AE-12AD84E4A4D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15350" y="2238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headEnd type="none" w="med" len="me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4A58A-2DEF-47E0-9CA0-0DBA648397F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562600" y="2238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headEnd type="none" w="med" len="me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B0048-A2B7-4709-944C-940D738829B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90850" y="2238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headEnd type="none" w="med" len="med"/>
            <a:tailEnd type="arrow" w="med" len="med"/>
          </a:ln>
        </p:spPr>
      </p:cxn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ABD018-C653-42C5-BD37-449466F1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备查：百人阶段参考架构，按需部署多副本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1B4DE4F6-34CE-47ED-B901-A8C4EB7B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764F99CC-15D2-40C5-A850-0563C472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D68D9031-9EF7-4AE0-AD9D-40D6CB5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备查 02">
            <a:extLst xmlns:a="http://schemas.openxmlformats.org/drawingml/2006/main">
              <a:ext uri="{FF2B5EF4-FFF2-40B4-BE49-F238E27FC236}">
                <a16:creationId xmlns:a16="http://schemas.microsoft.com/office/drawing/2014/main" id="{693E2E61-7EB5-46DC-A5BE-003C4180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备查 02</a:t>
            </a:r>
          </a:p>
        </p:txBody>
      </p:sp>
      <p:sp>
        <p:nvSpPr>
          <p:cNvPr id="6" name="Agent 与业务同事">
            <a:extLst xmlns:a="http://schemas.openxmlformats.org/drawingml/2006/main">
              <a:ext uri="{FF2B5EF4-FFF2-40B4-BE49-F238E27FC236}">
                <a16:creationId xmlns:a16="http://schemas.microsoft.com/office/drawing/2014/main" id="{176DA283-F32F-4283-8D46-ECA5C07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7" name="Agent 与业务同事">
            <a:extLst xmlns:a="http://schemas.openxmlformats.org/drawingml/2006/main">
              <a:ext uri="{FF2B5EF4-FFF2-40B4-BE49-F238E27FC236}">
                <a16:creationId xmlns:a16="http://schemas.microsoft.com/office/drawing/2014/main" id="{F7ED5350-8C85-4F05-BD22-43624961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Agent 与业务同事</a:t>
            </a:r>
          </a:p>
        </p:txBody>
      </p:sp>
      <p:sp>
        <p:nvSpPr>
          <p:cNvPr id="8" name="MCP / Widgets / 浏览器">
            <a:extLst xmlns:a="http://schemas.openxmlformats.org/drawingml/2006/main">
              <a:ext uri="{FF2B5EF4-FFF2-40B4-BE49-F238E27FC236}">
                <a16:creationId xmlns:a16="http://schemas.microsoft.com/office/drawing/2014/main" id="{8BE6A554-0079-4967-9022-F574C91B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MCP / Widgets / 浏览器</a:t>
            </a:r>
          </a:p>
        </p:txBody>
      </p:sp>
      <p:sp>
        <p:nvSpPr>
          <p:cNvPr id="9" name="统一入口">
            <a:extLst xmlns:a="http://schemas.openxmlformats.org/drawingml/2006/main">
              <a:ext uri="{FF2B5EF4-FFF2-40B4-BE49-F238E27FC236}">
                <a16:creationId xmlns:a16="http://schemas.microsoft.com/office/drawing/2014/main" id="{CBB866FC-85AB-41F1-BD3A-A75B14F9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4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000B"/>
            </a:solidFill>
          </a:ln>
        </p:spPr>
      </p:sp>
      <p:sp>
        <p:nvSpPr>
          <p:cNvPr id="10" name="统一入口">
            <a:extLst xmlns:a="http://schemas.openxmlformats.org/drawingml/2006/main">
              <a:ext uri="{FF2B5EF4-FFF2-40B4-BE49-F238E27FC236}">
                <a16:creationId xmlns:a16="http://schemas.microsoft.com/office/drawing/2014/main" id="{46CC0DBB-FE9D-4E90-B430-4C3922F7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288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11" name="身份、TLS、限流">
            <a:extLst xmlns:a="http://schemas.openxmlformats.org/drawingml/2006/main">
              <a:ext uri="{FF2B5EF4-FFF2-40B4-BE49-F238E27FC236}">
                <a16:creationId xmlns:a16="http://schemas.microsoft.com/office/drawing/2014/main" id="{2A26CAB8-BB78-4117-B312-F3D7997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身份、TLS、限流</a:t>
            </a:r>
          </a:p>
        </p:txBody>
      </p:sp>
      <p:sp>
        <p:nvSpPr>
          <p:cNvPr id="12" name="业务服务 A / B">
            <a:extLst xmlns:a="http://schemas.openxmlformats.org/drawingml/2006/main">
              <a:ext uri="{FF2B5EF4-FFF2-40B4-BE49-F238E27FC236}">
                <a16:creationId xmlns:a16="http://schemas.microsoft.com/office/drawing/2014/main" id="{DC3ECC86-A632-4E88-B28A-FB62B3C7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13" name="业务服务 A / B">
            <a:extLst xmlns:a="http://schemas.openxmlformats.org/drawingml/2006/main">
              <a:ext uri="{FF2B5EF4-FFF2-40B4-BE49-F238E27FC236}">
                <a16:creationId xmlns:a16="http://schemas.microsoft.com/office/drawing/2014/main" id="{066E36D5-E7A7-408D-A3C0-BDCEBDCC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业务服务 A / B</a:t>
            </a:r>
          </a:p>
        </p:txBody>
      </p:sp>
      <p:sp>
        <p:nvSpPr>
          <p:cNvPr id="14" name="授权、版本、实时连接">
            <a:extLst xmlns:a="http://schemas.openxmlformats.org/drawingml/2006/main">
              <a:ext uri="{FF2B5EF4-FFF2-40B4-BE49-F238E27FC236}">
                <a16:creationId xmlns:a16="http://schemas.microsoft.com/office/drawing/2014/main" id="{5FFFDB03-7013-47F3-9430-E19201DE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授权、版本、实时连接</a:t>
            </a:r>
          </a:p>
        </p:txBody>
      </p:sp>
      <p:sp>
        <p:nvSpPr>
          <p:cNvPr id="15" name="有界渲染队列">
            <a:extLst xmlns:a="http://schemas.openxmlformats.org/drawingml/2006/main">
              <a:ext uri="{FF2B5EF4-FFF2-40B4-BE49-F238E27FC236}">
                <a16:creationId xmlns:a16="http://schemas.microsoft.com/office/drawing/2014/main" id="{5531D502-CCE3-4BA3-83F9-5E02141C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14500"/>
            <a:ext cx="2686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16" name="有界渲染队列">
            <a:extLst xmlns:a="http://schemas.openxmlformats.org/drawingml/2006/main">
              <a:ext uri="{FF2B5EF4-FFF2-40B4-BE49-F238E27FC236}">
                <a16:creationId xmlns:a16="http://schemas.microsoft.com/office/drawing/2014/main" id="{6EC48A83-B1BB-4191-843D-340E69CA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28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有界渲染队列</a:t>
            </a:r>
          </a:p>
        </p:txBody>
      </p:sp>
      <p:sp>
        <p:nvSpPr>
          <p:cNvPr id="17" name="并发配额、超时与重试">
            <a:extLst xmlns:a="http://schemas.openxmlformats.org/drawingml/2006/main">
              <a:ext uri="{FF2B5EF4-FFF2-40B4-BE49-F238E27FC236}">
                <a16:creationId xmlns:a16="http://schemas.microsoft.com/office/drawing/2014/main" id="{8C2C90A4-391A-4B29-B569-6E3C41F3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并发配额、超时与重试</a:t>
            </a:r>
          </a:p>
        </p:txBody>
      </p:sp>
      <p:sp>
        <p:nvSpPr>
          <p:cNvPr id="21" name="会话路由与通知">
            <a:extLst xmlns:a="http://schemas.openxmlformats.org/drawingml/2006/main">
              <a:ext uri="{FF2B5EF4-FFF2-40B4-BE49-F238E27FC236}">
                <a16:creationId xmlns:a16="http://schemas.microsoft.com/office/drawing/2014/main" id="{78705804-2E88-4E05-AF03-5ED35E7A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95675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22" name="会话路由与通知">
            <a:extLst xmlns:a="http://schemas.openxmlformats.org/drawingml/2006/main">
              <a:ext uri="{FF2B5EF4-FFF2-40B4-BE49-F238E27FC236}">
                <a16:creationId xmlns:a16="http://schemas.microsoft.com/office/drawing/2014/main" id="{3C5E240F-AA5A-45CF-AF4E-0AE36325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997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会话路由与通知</a:t>
            </a:r>
          </a:p>
        </p:txBody>
      </p:sp>
      <p:sp>
        <p:nvSpPr>
          <p:cNvPr id="23" name="MCP 会话亲和&#10;WS / SSE 重连">
            <a:extLst xmlns:a="http://schemas.openxmlformats.org/drawingml/2006/main">
              <a:ext uri="{FF2B5EF4-FFF2-40B4-BE49-F238E27FC236}">
                <a16:creationId xmlns:a16="http://schemas.microsoft.com/office/drawing/2014/main" id="{2C6E1EEF-D350-46E4-BB8F-A0442FC7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71925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MCP 会话亲和</a:t>
            </a:r>
          </a:p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WS / SSE 重连</a:t>
            </a:r>
          </a:p>
        </p:txBody>
      </p:sp>
      <p:sp>
        <p:nvSpPr>
          <p:cNvPr id="24" name="共享数据库">
            <a:extLst xmlns:a="http://schemas.openxmlformats.org/drawingml/2006/main">
              <a:ext uri="{FF2B5EF4-FFF2-40B4-BE49-F238E27FC236}">
                <a16:creationId xmlns:a16="http://schemas.microsoft.com/office/drawing/2014/main" id="{B46435F6-B44F-48E5-B8F4-AA583A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95675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25" name="共享数据库">
            <a:extLst xmlns:a="http://schemas.openxmlformats.org/drawingml/2006/main">
              <a:ext uri="{FF2B5EF4-FFF2-40B4-BE49-F238E27FC236}">
                <a16:creationId xmlns:a16="http://schemas.microsoft.com/office/drawing/2014/main" id="{5C2BC3C9-43EA-46C0-8036-7D8A1D90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9975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共享数据库</a:t>
            </a:r>
          </a:p>
        </p:txBody>
      </p:sp>
      <p:sp>
        <p:nvSpPr>
          <p:cNvPr id="26" name="归属、XML、版本与任务">
            <a:extLst xmlns:a="http://schemas.openxmlformats.org/drawingml/2006/main">
              <a:ext uri="{FF2B5EF4-FFF2-40B4-BE49-F238E27FC236}">
                <a16:creationId xmlns:a16="http://schemas.microsoft.com/office/drawing/2014/main" id="{F0ABF1A6-1719-4C6D-9F7E-A4CD56D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71925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归属、XML、版本与任务</a:t>
            </a:r>
          </a:p>
        </p:txBody>
      </p:sp>
      <p:sp>
        <p:nvSpPr>
          <p:cNvPr id="27" name="独立渲染 Worker">
            <a:extLst xmlns:a="http://schemas.openxmlformats.org/drawingml/2006/main">
              <a:ext uri="{FF2B5EF4-FFF2-40B4-BE49-F238E27FC236}">
                <a16:creationId xmlns:a16="http://schemas.microsoft.com/office/drawing/2014/main" id="{E0407A27-63DA-4BD0-BAB2-46E5EB49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95675"/>
            <a:ext cx="2686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28" name="独立渲染 Worker">
            <a:extLst xmlns:a="http://schemas.openxmlformats.org/drawingml/2006/main">
              <a:ext uri="{FF2B5EF4-FFF2-40B4-BE49-F238E27FC236}">
                <a16:creationId xmlns:a16="http://schemas.microsoft.com/office/drawing/2014/main" id="{B4F28A7A-A595-46F9-B667-04D04BBA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99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独立渲染 Worker</a:t>
            </a:r>
          </a:p>
        </p:txBody>
      </p:sp>
      <p:sp>
        <p:nvSpPr>
          <p:cNvPr id="29" name="隔离浏览器&#10;限制 CPU / 内存">
            <a:extLst xmlns:a="http://schemas.openxmlformats.org/drawingml/2006/main">
              <a:ext uri="{FF2B5EF4-FFF2-40B4-BE49-F238E27FC236}">
                <a16:creationId xmlns:a16="http://schemas.microsoft.com/office/drawing/2014/main" id="{3E4A06A0-C576-42C3-A536-A0C6916A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71925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隔离浏览器</a:t>
            </a:r>
          </a:p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限制 CPU / 内存</a:t>
            </a:r>
          </a:p>
        </p:txBody>
      </p:sp>
      <p:sp>
        <p:nvSpPr>
          <p:cNvPr id="30" name="共享产物存储">
            <a:extLst xmlns:a="http://schemas.openxmlformats.org/drawingml/2006/main">
              <a:ext uri="{FF2B5EF4-FFF2-40B4-BE49-F238E27FC236}">
                <a16:creationId xmlns:a16="http://schemas.microsoft.com/office/drawing/2014/main" id="{5DBD0867-32FD-4C2A-9280-A485A0D0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DE2"/>
            </a:solidFill>
          </a:ln>
        </p:spPr>
      </p:sp>
      <p:sp>
        <p:nvSpPr>
          <p:cNvPr id="31" name="共享产物存储">
            <a:extLst xmlns:a="http://schemas.openxmlformats.org/drawingml/2006/main">
              <a:ext uri="{FF2B5EF4-FFF2-40B4-BE49-F238E27FC236}">
                <a16:creationId xmlns:a16="http://schemas.microsoft.com/office/drawing/2014/main" id="{0A81507D-C214-4728-B6C1-CC524BB1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共享产物存储</a:t>
            </a:r>
          </a:p>
        </p:txBody>
      </p:sp>
      <p:sp>
        <p:nvSpPr>
          <p:cNvPr id="32" name="保留期与授权下载">
            <a:extLst xmlns:a="http://schemas.openxmlformats.org/drawingml/2006/main">
              <a:ext uri="{FF2B5EF4-FFF2-40B4-BE49-F238E27FC236}">
                <a16:creationId xmlns:a16="http://schemas.microsoft.com/office/drawing/2014/main" id="{6F69FDF6-F4F0-4FF5-BF1A-79F016CA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959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保留期与授权下载</a:t>
            </a:r>
          </a:p>
        </p:txBody>
      </p:sp>
      <p:sp>
        <p:nvSpPr>
          <p:cNvPr id="37" name="全链路治理">
            <a:extLst xmlns:a="http://schemas.openxmlformats.org/drawingml/2006/main">
              <a:ext uri="{FF2B5EF4-FFF2-40B4-BE49-F238E27FC236}">
                <a16:creationId xmlns:a16="http://schemas.microsoft.com/office/drawing/2014/main" id="{59EB40E9-513A-478D-8E9E-747DBF7E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全链路治理</a:t>
            </a:r>
          </a:p>
        </p:txBody>
      </p:sp>
      <p:sp>
        <p:nvSpPr>
          <p:cNvPr id="38" name="访问审计、时延、排队、资源指标、恢复告警">
            <a:extLst xmlns:a="http://schemas.openxmlformats.org/drawingml/2006/main">
              <a:ext uri="{FF2B5EF4-FFF2-40B4-BE49-F238E27FC236}">
                <a16:creationId xmlns:a16="http://schemas.microsoft.com/office/drawing/2014/main" id="{59CAE4A1-EBFE-4FBE-BEA6-F468289E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访问审计、时延、排队、资源指标、恢复告警</a:t>
            </a:r>
          </a:p>
        </p:txBody>
      </p:sp>
    </p:spTree>
    <p:extLst>
      <p:ext uri="{BB962C8B-B14F-4D97-AF65-F5344CB8AC3E}">
        <p14:creationId xmlns:p14="http://schemas.microsoft.com/office/powerpoint/2010/main" val="1357552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B12AF9-76F8-41C1-9A9B-9B935BB8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备查：容量与可靠性验收口径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5146FB74-BB0F-4181-B0F3-10E78B67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D0EA9D29-7AAB-4EAC-A139-44937471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8A480ADF-224A-438F-AE73-DE300A06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备查 03">
            <a:extLst xmlns:a="http://schemas.openxmlformats.org/drawingml/2006/main">
              <a:ext uri="{FF2B5EF4-FFF2-40B4-BE49-F238E27FC236}">
                <a16:creationId xmlns:a16="http://schemas.microsoft.com/office/drawing/2014/main" id="{60639663-9960-406E-AF42-263B7165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备查 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8520C-FCBE-495F-877B-6F4A62B0F1B6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38650"/>
                <a:gridCol w="4724400"/>
              </a:tblGrid>
              <a:tr h="6000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验证项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建议测试场景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建议通过标准，均为待验收目标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</a:tr>
              <a:tr h="8667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负载与样本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 10 / 50 / 100，记录 ECS 规格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图大小 50 / 200 / 1000 KiB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每档 15 分钟，百人档增加长稳测试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 WS、SSE 与多个 MCP 客户端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8667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控制与同步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读写、校验、人工编辑后回读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按每人 0.1 次/秒施加控制请求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控制接口 p95 &lt; 500 ms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KiB 保存确认 p95 &lt; 1 秒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渲染与突发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每人每 5 分钟导出，另加 10 个突发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PNG / SVG 分开统计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KiB 图端到端导出 p95 &lt; 15 秒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成功率 ≥ 99.5%，资源保留余量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8667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恢复与安全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重启、断连、越权、过期任务和磁盘满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多副本阶段覆盖实例故障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已确认保存的数据不丢失</a:t>
                      </a:r>
                    </a:p>
                    <a:p>
                      <a:pPr algn="l"/>
                      <a:r>
                        <a:rPr sz="17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非所有者拒绝访问，恢复流程可演练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负载人数、成功率和响应时间必须共同报告，同时保留原始数据与测试环">
            <a:extLst xmlns:a="http://schemas.openxmlformats.org/drawingml/2006/main">
              <a:ext uri="{FF2B5EF4-FFF2-40B4-BE49-F238E27FC236}">
                <a16:creationId xmlns:a16="http://schemas.microsoft.com/office/drawing/2014/main" id="{A508DF67-CA28-42DD-A2D5-84E8B1C5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负载人数、成功率和响应时间必须共同报告，同时保留原始数据与测试环境</a:t>
            </a:r>
          </a:p>
        </p:txBody>
      </p:sp>
    </p:spTree>
    <p:extLst>
      <p:ext uri="{BB962C8B-B14F-4D97-AF65-F5344CB8AC3E}">
        <p14:creationId xmlns:p14="http://schemas.microsoft.com/office/powerpoint/2010/main" val="15311105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F9C99F-AC39-4DE6-90E2-CD8EF27D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备查：代码证据与结论边界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F475DB07-F9D2-49CE-BBC4-E4584F9F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</a:ln>
        </p:spPr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7835985B-3A13-49BC-A305-25E1F733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2"/>
          </a:solidFill>
          <a:ln xmlns:a="http://schemas.openxmlformats.org/drawingml/2006/main" w="0">
            <a:noFill/>
          </a:ln>
        </p:spPr>
      </p:sp>
      <p:sp>
        <p:nvSpPr>
          <p:cNvPr id="4" name="UMEKO DRAW.IO SERVER">
            <a:extLst xmlns:a="http://schemas.openxmlformats.org/drawingml/2006/main">
              <a:ext uri="{FF2B5EF4-FFF2-40B4-BE49-F238E27FC236}">
                <a16:creationId xmlns:a16="http://schemas.microsoft.com/office/drawing/2014/main" id="{C25F0000-C089-4AD2-A7D4-E6296987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UMEKO DRAW.IO SERVER</a:t>
            </a:r>
          </a:p>
        </p:txBody>
      </p:sp>
      <p:sp>
        <p:nvSpPr>
          <p:cNvPr id="5" name="备查 04">
            <a:extLst xmlns:a="http://schemas.openxmlformats.org/drawingml/2006/main">
              <a:ext uri="{FF2B5EF4-FFF2-40B4-BE49-F238E27FC236}">
                <a16:creationId xmlns:a16="http://schemas.microsoft.com/office/drawing/2014/main" id="{DF0EE30D-7689-44D1-BA81-9D36C329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备查 04</a:t>
            </a:r>
          </a:p>
        </p:txBody>
      </p:sp>
      <p:sp>
        <p:nvSpPr>
          <p:cNvPr id="6" name="调研快照 b2b8c48，2026.10.15；当前项目处于个人">
            <a:extLst xmlns:a="http://schemas.openxmlformats.org/drawingml/2006/main">
              <a:ext uri="{FF2B5EF4-FFF2-40B4-BE49-F238E27FC236}">
                <a16:creationId xmlns:a16="http://schemas.microsoft.com/office/drawing/2014/main" id="{9D8D4C1F-F147-45F6-ABCD-114FF2D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调研快照 b2b8c48，2026.10.15；当前项目处于个人单节点 ECS 测试阶段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DBE4D-3915-472D-9EBE-D6114ECB3082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8629650"/>
              </a:tblGrid>
              <a:tr h="523875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关键结论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仓库证据与口径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7000B"/>
                    </a:solidFill>
                  </a:tcPr>
                </a:tc>
              </a:tr>
              <a:tr h="72390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多人接入与协同边界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src/server.js:597-639 每个 MCP 会话独立实例</a:t>
                      </a:r>
                    </a:p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src/nodes.js:215-248 一画布仅保留一个页面连接，无多人冲突合并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72390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状态与生命周期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src/nodes.js:15-103 热节点为内存 Map，冻结后写 JSON</a:t>
                      </a:r>
                    </a:p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连接中不自动冻结，48 小时清理按 lastSeenAt 计时，解冻删除冷文件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渲染与数据边界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exporter/svg-export.js:44、145-154 SVG 单实例串行队列</a:t>
                      </a:r>
                    </a:p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render_diagram 允许仅传 XML，deep 校验同样占用 SVG 导出能力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723900"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授权与输入约束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/>
                    <a:lstStyle/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nodeId 即操作凭证，tools_allow 为声明，不能代替服务端鉴权</a:t>
                      </a:r>
                    </a:p>
                    <a:p>
                      <a:pPr algn="l"/>
                      <a:r>
                        <a:rPr sz="16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需统一 nodeId 格式与路径约束，覆盖 REST、MCP、WS、SSE 和产物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外部依据：draw.io XML / 安全说明、Mermaid ">
            <a:extLst xmlns:a="http://schemas.openxmlformats.org/drawingml/2006/main">
              <a:ext uri="{FF2B5EF4-FFF2-40B4-BE49-F238E27FC236}">
                <a16:creationId xmlns:a16="http://schemas.microsoft.com/office/drawing/2014/main" id="{EA569C69-F338-48DE-B383-BFEB7A0A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068"/>
                </a:solidFill>
                <a:latin typeface="Microsoft YaHei"/>
                <a:ea typeface="Microsoft YaHei"/>
                <a:cs typeface="Microsoft YaHei"/>
              </a:rPr>
              <a:t>外部依据：draw.io XML / 安全说明、Mermaid 流程图、MCP 安全规范、Nexent MCP 指南</a:t>
            </a:r>
          </a:p>
        </p:txBody>
      </p:sp>
    </p:spTree>
    <p:extLst>
      <p:ext uri="{BB962C8B-B14F-4D97-AF65-F5344CB8AC3E}">
        <p14:creationId xmlns:p14="http://schemas.microsoft.com/office/powerpoint/2010/main" val="1399903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2026-10-15T06:18:18.5150000Z</dcterms:created>
  <dcterms:modified xsi:type="dcterms:W3CDTF">2026-10-15T06:18:18.5150000Z</dcterms:modified>
</coreProperties>
</file>